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7700" y="1333500"/>
            <a:ext cx="6667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spc="-100">
                <a:solidFill>
                  <a:srgbClr val="F5F2EA"/>
                </a:solidFill>
                <a:latin typeface="Helvetica Neue"/>
              </a:rPr>
              <a:t>Pivot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7700" y="1771650"/>
            <a:ext cx="419100" cy="9525"/>
          </a:xfrm>
          <a:prstGeom prst="rect">
            <a:avLst/>
          </a:prstGeom>
          <a:solidFill>
            <a:srgbClr val="603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7700" y="2076450"/>
            <a:ext cx="8953500" cy="2476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5200" b="1" spc="-220">
                <a:solidFill>
                  <a:srgbClr val="F5F2EA"/>
                </a:solidFill>
                <a:latin typeface="Helvetica Neue"/>
              </a:rPr>
              <a:t>Career advice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5200" b="1" spc="-220">
                <a:solidFill>
                  <a:srgbClr val="F5F2EA"/>
                </a:solidFill>
                <a:latin typeface="Helvetica Neue"/>
              </a:rPr>
              <a:t>you can defend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5200" b="1" spc="-220">
                <a:solidFill>
                  <a:srgbClr val="F5F2EA"/>
                </a:solidFill>
                <a:latin typeface="Helvetica Neue"/>
              </a:rPr>
              <a:t>under questioning.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7700" y="4572000"/>
            <a:ext cx="5905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450" b="0" spc="0">
                <a:solidFill>
                  <a:srgbClr val="F5F2EA"/>
                </a:solidFill>
                <a:latin typeface="Helvetica Neue"/>
              </a:rPr>
              <a:t>A verification-first AI career transition platform. It doesn't take your résumé's word for it — it stress-tests the claims, then matches your </a:t>
            </a:r>
            <a:r>
              <a:rPr sz="1450" b="1" spc="0">
                <a:solidFill>
                  <a:srgbClr val="FFB020"/>
                </a:solidFill>
                <a:latin typeface="Helvetica Neue"/>
              </a:rPr>
              <a:t>verified</a:t>
            </a:r>
            <a:r>
              <a:rPr sz="1450" b="0" spc="0">
                <a:solidFill>
                  <a:srgbClr val="F5F2EA"/>
                </a:solidFill>
                <a:latin typeface="Helvetica Neue"/>
              </a:rPr>
              <a:t> skills against 428 real AI job postings you can actually hold.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7700" y="5486400"/>
            <a:ext cx="10896600" cy="9525"/>
          </a:xfrm>
          <a:prstGeom prst="rect">
            <a:avLst/>
          </a:prstGeom>
          <a:solidFill>
            <a:srgbClr val="2E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7700" y="5657850"/>
            <a:ext cx="28575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spc="130">
                <a:solidFill>
                  <a:srgbClr val="9A92B4"/>
                </a:solidFill>
                <a:latin typeface="Menlo"/>
              </a:rPr>
              <a:t>BUILT 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700" y="5829300"/>
            <a:ext cx="29527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spc="0">
                <a:solidFill>
                  <a:srgbClr val="F5F2EA"/>
                </a:solidFill>
                <a:latin typeface="Helvetica Neue"/>
              </a:rPr>
              <a:t>Next.js 15 · React 19 · Claude Opus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0950" y="5657850"/>
            <a:ext cx="28575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spc="130">
                <a:solidFill>
                  <a:srgbClr val="9A92B4"/>
                </a:solidFill>
                <a:latin typeface="Menlo"/>
              </a:rPr>
              <a:t>CORPUS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0950" y="5829300"/>
            <a:ext cx="29527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spc="0">
                <a:solidFill>
                  <a:srgbClr val="F5F2EA"/>
                </a:solidFill>
                <a:latin typeface="Helvetica Neue"/>
              </a:rPr>
              <a:t>428 postings · 12 role archetypes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34200" y="5657850"/>
            <a:ext cx="28575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spc="130">
                <a:solidFill>
                  <a:srgbClr val="9A92B4"/>
                </a:solidFill>
                <a:latin typeface="Menlo"/>
              </a:rPr>
              <a:t>DEMO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34200" y="5829300"/>
            <a:ext cx="29527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spc="0">
                <a:solidFill>
                  <a:srgbClr val="F5F2EA"/>
                </a:solidFill>
                <a:latin typeface="Helvetica Neue"/>
              </a:rPr>
              <a:t>Runs with zero API dependency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700" y="6229350"/>
            <a:ext cx="14287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spc="120">
                <a:solidFill>
                  <a:srgbClr val="9A92B4"/>
                </a:solidFill>
                <a:latin typeface="Menlo"/>
              </a:rPr>
              <a:t>PIVOT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19325" y="6286500"/>
            <a:ext cx="8582025" cy="19050"/>
          </a:xfrm>
          <a:prstGeom prst="rect">
            <a:avLst/>
          </a:prstGeom>
          <a:solidFill>
            <a:srgbClr val="2E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143125" y="6219825"/>
            <a:ext cx="152400" cy="152400"/>
          </a:xfrm>
          <a:prstGeom prst="ellipse">
            <a:avLst/>
          </a:prstGeom>
          <a:solidFill>
            <a:srgbClr val="6034FF"/>
          </a:solidFill>
          <a:ln w="19050">
            <a:solidFill>
              <a:srgbClr val="603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784702" y="6248400"/>
            <a:ext cx="95250" cy="95250"/>
          </a:xfrm>
          <a:prstGeom prst="ellipse">
            <a:avLst/>
          </a:prstGeom>
          <a:solidFill>
            <a:srgbClr val="100C1C"/>
          </a:solidFill>
          <a:ln w="19050">
            <a:solidFill>
              <a:srgbClr val="2E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397704" y="6248400"/>
            <a:ext cx="95250" cy="95250"/>
          </a:xfrm>
          <a:prstGeom prst="ellipse">
            <a:avLst/>
          </a:prstGeom>
          <a:solidFill>
            <a:srgbClr val="100C1C"/>
          </a:solidFill>
          <a:ln w="19050">
            <a:solidFill>
              <a:srgbClr val="2E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010705" y="6248400"/>
            <a:ext cx="95250" cy="95250"/>
          </a:xfrm>
          <a:prstGeom prst="ellipse">
            <a:avLst/>
          </a:prstGeom>
          <a:solidFill>
            <a:srgbClr val="100C1C"/>
          </a:solidFill>
          <a:ln w="19050">
            <a:solidFill>
              <a:srgbClr val="2E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623707" y="6248400"/>
            <a:ext cx="95250" cy="95250"/>
          </a:xfrm>
          <a:prstGeom prst="ellipse">
            <a:avLst/>
          </a:prstGeom>
          <a:solidFill>
            <a:srgbClr val="100C1C"/>
          </a:solidFill>
          <a:ln w="19050">
            <a:solidFill>
              <a:srgbClr val="2E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236709" y="6248400"/>
            <a:ext cx="95250" cy="95250"/>
          </a:xfrm>
          <a:prstGeom prst="ellipse">
            <a:avLst/>
          </a:prstGeom>
          <a:solidFill>
            <a:srgbClr val="100C1C"/>
          </a:solidFill>
          <a:ln w="19050">
            <a:solidFill>
              <a:srgbClr val="2E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849711" y="6248400"/>
            <a:ext cx="95250" cy="95250"/>
          </a:xfrm>
          <a:prstGeom prst="ellipse">
            <a:avLst/>
          </a:prstGeom>
          <a:solidFill>
            <a:srgbClr val="100C1C"/>
          </a:solidFill>
          <a:ln w="19050">
            <a:solidFill>
              <a:srgbClr val="2E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62712" y="6248400"/>
            <a:ext cx="95250" cy="95250"/>
          </a:xfrm>
          <a:prstGeom prst="ellipse">
            <a:avLst/>
          </a:prstGeom>
          <a:solidFill>
            <a:srgbClr val="100C1C"/>
          </a:solidFill>
          <a:ln w="19050">
            <a:solidFill>
              <a:srgbClr val="2E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075714" y="6248400"/>
            <a:ext cx="95250" cy="95250"/>
          </a:xfrm>
          <a:prstGeom prst="ellipse">
            <a:avLst/>
          </a:prstGeom>
          <a:solidFill>
            <a:srgbClr val="100C1C"/>
          </a:solidFill>
          <a:ln w="19050">
            <a:solidFill>
              <a:srgbClr val="2E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688716" y="6248400"/>
            <a:ext cx="95250" cy="95250"/>
          </a:xfrm>
          <a:prstGeom prst="ellipse">
            <a:avLst/>
          </a:prstGeom>
          <a:solidFill>
            <a:srgbClr val="100C1C"/>
          </a:solidFill>
          <a:ln w="19050">
            <a:solidFill>
              <a:srgbClr val="2E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301718" y="6248400"/>
            <a:ext cx="95250" cy="95250"/>
          </a:xfrm>
          <a:prstGeom prst="ellipse">
            <a:avLst/>
          </a:prstGeom>
          <a:solidFill>
            <a:srgbClr val="100C1C"/>
          </a:solidFill>
          <a:ln w="19050">
            <a:solidFill>
              <a:srgbClr val="2E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14720" y="6248400"/>
            <a:ext cx="95250" cy="95250"/>
          </a:xfrm>
          <a:prstGeom prst="ellipse">
            <a:avLst/>
          </a:prstGeom>
          <a:solidFill>
            <a:srgbClr val="100C1C"/>
          </a:solidFill>
          <a:ln w="19050">
            <a:solidFill>
              <a:srgbClr val="2E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527721" y="6248400"/>
            <a:ext cx="95250" cy="95250"/>
          </a:xfrm>
          <a:prstGeom prst="ellipse">
            <a:avLst/>
          </a:prstGeom>
          <a:solidFill>
            <a:srgbClr val="100C1C"/>
          </a:solidFill>
          <a:ln w="19050">
            <a:solidFill>
              <a:srgbClr val="2E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140723" y="6248400"/>
            <a:ext cx="95250" cy="95250"/>
          </a:xfrm>
          <a:prstGeom prst="ellipse">
            <a:avLst/>
          </a:prstGeom>
          <a:solidFill>
            <a:srgbClr val="100C1C"/>
          </a:solidFill>
          <a:ln w="19050">
            <a:solidFill>
              <a:srgbClr val="2E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753725" y="6248400"/>
            <a:ext cx="95250" cy="95250"/>
          </a:xfrm>
          <a:prstGeom prst="ellipse">
            <a:avLst/>
          </a:prstGeom>
          <a:solidFill>
            <a:srgbClr val="100C1C"/>
          </a:solidFill>
          <a:ln w="19050">
            <a:solidFill>
              <a:srgbClr val="2E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877550" y="6229350"/>
            <a:ext cx="6667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spc="120">
                <a:solidFill>
                  <a:srgbClr val="9A92B4"/>
                </a:solidFill>
                <a:latin typeface="Menlo"/>
              </a:rPr>
              <a:t>01 /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7700" y="647700"/>
            <a:ext cx="8572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spc="140">
                <a:solidFill>
                  <a:srgbClr val="9A92B4"/>
                </a:solidFill>
                <a:latin typeface="Menlo"/>
              </a:rPr>
              <a:t>01 — 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647700" y="1028700"/>
            <a:ext cx="10896600" cy="9525"/>
          </a:xfrm>
          <a:prstGeom prst="rect">
            <a:avLst/>
          </a:prstGeom>
          <a:solidFill>
            <a:srgbClr val="2E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7700" y="2000250"/>
            <a:ext cx="4762500" cy="190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200" b="1" spc="-190">
                <a:solidFill>
                  <a:srgbClr val="F5F2EA"/>
                </a:solidFill>
                <a:latin typeface="Helvetica Neue"/>
              </a:rPr>
              <a:t>Every career tool trusts your résumé.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7700" y="3810000"/>
            <a:ext cx="43815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500" b="0" spc="0">
                <a:solidFill>
                  <a:srgbClr val="9A92B4"/>
                </a:solidFill>
                <a:latin typeface="Helvetica Neue"/>
              </a:rPr>
              <a:t>Résumés overstate depth. Not maliciously — everyone does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67500" y="2038350"/>
            <a:ext cx="48768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400" b="0" spc="0">
                <a:solidFill>
                  <a:srgbClr val="9A92B4"/>
                </a:solidFill>
                <a:latin typeface="Helvetica Neue"/>
              </a:rPr>
              <a:t>So the advice comes back calibrated to a person who doesn't exist.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67500" y="2857500"/>
            <a:ext cx="4876800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400" b="0" spc="0">
                <a:solidFill>
                  <a:srgbClr val="9A92B4"/>
                </a:solidFill>
                <a:latin typeface="Helvetica Neue"/>
              </a:rPr>
              <a:t>You get a learning plan for the engineer your résumé described, a role match against skills nobody checked, and a timeline that ignores whether you can legally hold the job.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67500" y="4114800"/>
            <a:ext cx="48768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400" b="1" spc="0">
                <a:solidFill>
                  <a:srgbClr val="F5F2EA"/>
                </a:solidFill>
                <a:latin typeface="Helvetica Neue"/>
              </a:rPr>
              <a:t>Nothing in that chain is verifiable. So none of it is defensible.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700" y="6229350"/>
            <a:ext cx="14287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spc="120">
                <a:solidFill>
                  <a:srgbClr val="9A92B4"/>
                </a:solidFill>
                <a:latin typeface="Menlo"/>
              </a:rPr>
              <a:t>THE PROBLEM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19325" y="6286500"/>
            <a:ext cx="8582025" cy="19050"/>
          </a:xfrm>
          <a:prstGeom prst="rect">
            <a:avLst/>
          </a:prstGeom>
          <a:solidFill>
            <a:srgbClr val="2E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19325" y="6286500"/>
            <a:ext cx="613002" cy="19050"/>
          </a:xfrm>
          <a:prstGeom prst="rect">
            <a:avLst/>
          </a:prstGeom>
          <a:solidFill>
            <a:srgbClr val="603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171700" y="6248400"/>
            <a:ext cx="95250" cy="95250"/>
          </a:xfrm>
          <a:prstGeom prst="ellipse">
            <a:avLst/>
          </a:prstGeom>
          <a:solidFill>
            <a:srgbClr val="6034FF"/>
          </a:solidFill>
          <a:ln w="19050">
            <a:solidFill>
              <a:srgbClr val="603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756127" y="6219825"/>
            <a:ext cx="152400" cy="152400"/>
          </a:xfrm>
          <a:prstGeom prst="ellipse">
            <a:avLst/>
          </a:prstGeom>
          <a:solidFill>
            <a:srgbClr val="6034FF"/>
          </a:solidFill>
          <a:ln w="19050">
            <a:solidFill>
              <a:srgbClr val="603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397704" y="6248400"/>
            <a:ext cx="95250" cy="95250"/>
          </a:xfrm>
          <a:prstGeom prst="ellipse">
            <a:avLst/>
          </a:prstGeom>
          <a:solidFill>
            <a:srgbClr val="100C1C"/>
          </a:solidFill>
          <a:ln w="19050">
            <a:solidFill>
              <a:srgbClr val="2E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010705" y="6248400"/>
            <a:ext cx="95250" cy="95250"/>
          </a:xfrm>
          <a:prstGeom prst="ellipse">
            <a:avLst/>
          </a:prstGeom>
          <a:solidFill>
            <a:srgbClr val="100C1C"/>
          </a:solidFill>
          <a:ln w="19050">
            <a:solidFill>
              <a:srgbClr val="2E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623707" y="6248400"/>
            <a:ext cx="95250" cy="95250"/>
          </a:xfrm>
          <a:prstGeom prst="ellipse">
            <a:avLst/>
          </a:prstGeom>
          <a:solidFill>
            <a:srgbClr val="100C1C"/>
          </a:solidFill>
          <a:ln w="19050">
            <a:solidFill>
              <a:srgbClr val="2E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236709" y="6248400"/>
            <a:ext cx="95250" cy="95250"/>
          </a:xfrm>
          <a:prstGeom prst="ellipse">
            <a:avLst/>
          </a:prstGeom>
          <a:solidFill>
            <a:srgbClr val="100C1C"/>
          </a:solidFill>
          <a:ln w="19050">
            <a:solidFill>
              <a:srgbClr val="2E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849711" y="6248400"/>
            <a:ext cx="95250" cy="95250"/>
          </a:xfrm>
          <a:prstGeom prst="ellipse">
            <a:avLst/>
          </a:prstGeom>
          <a:solidFill>
            <a:srgbClr val="100C1C"/>
          </a:solidFill>
          <a:ln w="19050">
            <a:solidFill>
              <a:srgbClr val="2E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62712" y="6248400"/>
            <a:ext cx="95250" cy="95250"/>
          </a:xfrm>
          <a:prstGeom prst="ellipse">
            <a:avLst/>
          </a:prstGeom>
          <a:solidFill>
            <a:srgbClr val="100C1C"/>
          </a:solidFill>
          <a:ln w="19050">
            <a:solidFill>
              <a:srgbClr val="2E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075714" y="6248400"/>
            <a:ext cx="95250" cy="95250"/>
          </a:xfrm>
          <a:prstGeom prst="ellipse">
            <a:avLst/>
          </a:prstGeom>
          <a:solidFill>
            <a:srgbClr val="100C1C"/>
          </a:solidFill>
          <a:ln w="19050">
            <a:solidFill>
              <a:srgbClr val="2E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688716" y="6248400"/>
            <a:ext cx="95250" cy="95250"/>
          </a:xfrm>
          <a:prstGeom prst="ellipse">
            <a:avLst/>
          </a:prstGeom>
          <a:solidFill>
            <a:srgbClr val="100C1C"/>
          </a:solidFill>
          <a:ln w="19050">
            <a:solidFill>
              <a:srgbClr val="2E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301718" y="6248400"/>
            <a:ext cx="95250" cy="95250"/>
          </a:xfrm>
          <a:prstGeom prst="ellipse">
            <a:avLst/>
          </a:prstGeom>
          <a:solidFill>
            <a:srgbClr val="100C1C"/>
          </a:solidFill>
          <a:ln w="19050">
            <a:solidFill>
              <a:srgbClr val="2E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914720" y="6248400"/>
            <a:ext cx="95250" cy="95250"/>
          </a:xfrm>
          <a:prstGeom prst="ellipse">
            <a:avLst/>
          </a:prstGeom>
          <a:solidFill>
            <a:srgbClr val="100C1C"/>
          </a:solidFill>
          <a:ln w="19050">
            <a:solidFill>
              <a:srgbClr val="2E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527721" y="6248400"/>
            <a:ext cx="95250" cy="95250"/>
          </a:xfrm>
          <a:prstGeom prst="ellipse">
            <a:avLst/>
          </a:prstGeom>
          <a:solidFill>
            <a:srgbClr val="100C1C"/>
          </a:solidFill>
          <a:ln w="19050">
            <a:solidFill>
              <a:srgbClr val="2E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140723" y="6248400"/>
            <a:ext cx="95250" cy="95250"/>
          </a:xfrm>
          <a:prstGeom prst="ellipse">
            <a:avLst/>
          </a:prstGeom>
          <a:solidFill>
            <a:srgbClr val="100C1C"/>
          </a:solidFill>
          <a:ln w="19050">
            <a:solidFill>
              <a:srgbClr val="2E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753725" y="6248400"/>
            <a:ext cx="95250" cy="95250"/>
          </a:xfrm>
          <a:prstGeom prst="ellipse">
            <a:avLst/>
          </a:prstGeom>
          <a:solidFill>
            <a:srgbClr val="100C1C"/>
          </a:solidFill>
          <a:ln w="19050">
            <a:solidFill>
              <a:srgbClr val="2E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877550" y="6229350"/>
            <a:ext cx="6667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spc="120">
                <a:solidFill>
                  <a:srgbClr val="9A92B4"/>
                </a:solidFill>
                <a:latin typeface="Menlo"/>
              </a:rPr>
              <a:t>02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7700" y="647700"/>
            <a:ext cx="8572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spc="140">
                <a:solidFill>
                  <a:srgbClr val="7A7391"/>
                </a:solidFill>
                <a:latin typeface="Menlo"/>
              </a:rPr>
              <a:t>02 — WHAT PIVOT DOES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7700" y="895350"/>
            <a:ext cx="108966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300" b="1" spc="-130">
                <a:solidFill>
                  <a:srgbClr val="100C1C"/>
                </a:solidFill>
                <a:latin typeface="Helvetica Neue"/>
              </a:rPr>
              <a:t>Five steps, and only one of them trusts you.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7700" y="1562100"/>
            <a:ext cx="10896600" cy="9525"/>
          </a:xfrm>
          <a:prstGeom prst="rect">
            <a:avLst/>
          </a:prstGeom>
          <a:solidFill>
            <a:srgbClr val="DED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7700" y="1771650"/>
            <a:ext cx="10896600" cy="9525"/>
          </a:xfrm>
          <a:prstGeom prst="rect">
            <a:avLst/>
          </a:prstGeom>
          <a:solidFill>
            <a:srgbClr val="DED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7700" y="1914525"/>
            <a:ext cx="4191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spc="100">
                <a:solidFill>
                  <a:srgbClr val="7A7391"/>
                </a:solidFill>
                <a:latin typeface="Menlo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1100" y="1885950"/>
            <a:ext cx="952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spc="-50">
                <a:solidFill>
                  <a:srgbClr val="100C1C"/>
                </a:solidFill>
                <a:latin typeface="Helvetica Neue"/>
              </a:rPr>
              <a:t>Ingest the résumé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1100" y="2114550"/>
            <a:ext cx="9715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50" b="0" spc="0">
                <a:solidFill>
                  <a:srgbClr val="7A7391"/>
                </a:solidFill>
                <a:latin typeface="Helvetica Neue"/>
              </a:rPr>
              <a:t>PDF or DOCX in, structured profile out. Every extracted skill must carry verbatim evidence from the document — no evidence, no claim.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7700" y="2609850"/>
            <a:ext cx="10896600" cy="9525"/>
          </a:xfrm>
          <a:prstGeom prst="rect">
            <a:avLst/>
          </a:prstGeom>
          <a:solidFill>
            <a:srgbClr val="DED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700" y="2752725"/>
            <a:ext cx="4191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spc="100">
                <a:solidFill>
                  <a:srgbClr val="7A7391"/>
                </a:solidFill>
                <a:latin typeface="Menlo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1100" y="2724150"/>
            <a:ext cx="952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spc="-50">
                <a:solidFill>
                  <a:srgbClr val="100C1C"/>
                </a:solidFill>
                <a:latin typeface="Helvetica Neue"/>
              </a:rPr>
              <a:t>Capture the constraints that actually govern employability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1100" y="2952750"/>
            <a:ext cx="9715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50" b="0" spc="0">
                <a:solidFill>
                  <a:srgbClr val="7A7391"/>
                </a:solidFill>
                <a:latin typeface="Helvetica Neue"/>
              </a:rPr>
              <a:t>Location, work authorization, target roles, hours per week. These are hard filters, not preferences.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7700" y="3448050"/>
            <a:ext cx="10896600" cy="9525"/>
          </a:xfrm>
          <a:prstGeom prst="rect">
            <a:avLst/>
          </a:prstGeom>
          <a:solidFill>
            <a:srgbClr val="DED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700" y="3590925"/>
            <a:ext cx="4191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spc="100">
                <a:solidFill>
                  <a:srgbClr val="7A7391"/>
                </a:solidFill>
                <a:latin typeface="Menlo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1100" y="3562350"/>
            <a:ext cx="952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spc="-50">
                <a:solidFill>
                  <a:srgbClr val="100C1C"/>
                </a:solidFill>
                <a:latin typeface="Helvetica Neue"/>
              </a:rPr>
              <a:t>Stress-test the claims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1100" y="3790950"/>
            <a:ext cx="9715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50" b="0" spc="0">
                <a:solidFill>
                  <a:srgbClr val="7A7391"/>
                </a:solidFill>
                <a:latin typeface="Helvetica Neue"/>
              </a:rPr>
              <a:t>An adaptive MCQ quiz targets the highest-risk claims. 21 questions generated, 12 served, difficulty adapting as you go.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7700" y="4286250"/>
            <a:ext cx="10896600" cy="9525"/>
          </a:xfrm>
          <a:prstGeom prst="rect">
            <a:avLst/>
          </a:prstGeom>
          <a:solidFill>
            <a:srgbClr val="DED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700" y="4429125"/>
            <a:ext cx="4191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spc="100">
                <a:solidFill>
                  <a:srgbClr val="7A7391"/>
                </a:solidFill>
                <a:latin typeface="Menlo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1100" y="4400550"/>
            <a:ext cx="952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spc="-50">
                <a:solidFill>
                  <a:srgbClr val="100C1C"/>
                </a:solidFill>
                <a:latin typeface="Helvetica Neue"/>
              </a:rPr>
              <a:t>Match the verified vector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1100" y="4629150"/>
            <a:ext cx="9715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50" b="0" spc="0">
                <a:solidFill>
                  <a:srgbClr val="7A7391"/>
                </a:solidFill>
                <a:latin typeface="Helvetica Neue"/>
              </a:rPr>
              <a:t>Weighted gap arithmetic against 428 real postings — filtered to jobs the user can actually hold. Deterministic, ~1ms.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7700" y="5124450"/>
            <a:ext cx="10896600" cy="9525"/>
          </a:xfrm>
          <a:prstGeom prst="rect">
            <a:avLst/>
          </a:prstGeom>
          <a:solidFill>
            <a:srgbClr val="DED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700" y="5267325"/>
            <a:ext cx="4191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spc="100">
                <a:solidFill>
                  <a:srgbClr val="7A7391"/>
                </a:solidFill>
                <a:latin typeface="Menlo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1100" y="5238750"/>
            <a:ext cx="952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spc="-50">
                <a:solidFill>
                  <a:srgbClr val="100C1C"/>
                </a:solidFill>
                <a:latin typeface="Helvetica Neue"/>
              </a:rPr>
              <a:t>Generate three genuinely different pathways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1100" y="5467350"/>
            <a:ext cx="9715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50" b="0" spc="0">
                <a:solidFill>
                  <a:srgbClr val="7A7391"/>
                </a:solidFill>
                <a:latin typeface="Helvetica Neue"/>
              </a:rPr>
              <a:t>Sprint, Deep, and Lateral routes to the role — checked for differentiation, not three rewordings of the same plan.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7700" y="5962650"/>
            <a:ext cx="10896600" cy="9525"/>
          </a:xfrm>
          <a:prstGeom prst="rect">
            <a:avLst/>
          </a:prstGeom>
          <a:solidFill>
            <a:srgbClr val="DED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7700" y="6229350"/>
            <a:ext cx="14287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spc="120">
                <a:solidFill>
                  <a:srgbClr val="7A7391"/>
                </a:solidFill>
                <a:latin typeface="Menlo"/>
              </a:rPr>
              <a:t>THE FLOW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19325" y="6286500"/>
            <a:ext cx="8582025" cy="19050"/>
          </a:xfrm>
          <a:prstGeom prst="rect">
            <a:avLst/>
          </a:prstGeom>
          <a:solidFill>
            <a:srgbClr val="DED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219325" y="6286500"/>
            <a:ext cx="1226004" cy="19050"/>
          </a:xfrm>
          <a:prstGeom prst="rect">
            <a:avLst/>
          </a:prstGeom>
          <a:solidFill>
            <a:srgbClr val="603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171700" y="6248400"/>
            <a:ext cx="95250" cy="95250"/>
          </a:xfrm>
          <a:prstGeom prst="ellipse">
            <a:avLst/>
          </a:prstGeom>
          <a:solidFill>
            <a:srgbClr val="6034FF"/>
          </a:solidFill>
          <a:ln w="19050">
            <a:solidFill>
              <a:srgbClr val="603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784702" y="6248400"/>
            <a:ext cx="95250" cy="95250"/>
          </a:xfrm>
          <a:prstGeom prst="ellipse">
            <a:avLst/>
          </a:prstGeom>
          <a:solidFill>
            <a:srgbClr val="6034FF"/>
          </a:solidFill>
          <a:ln w="19050">
            <a:solidFill>
              <a:srgbClr val="603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369129" y="6219825"/>
            <a:ext cx="152400" cy="152400"/>
          </a:xfrm>
          <a:prstGeom prst="ellipse">
            <a:avLst/>
          </a:prstGeom>
          <a:solidFill>
            <a:srgbClr val="6034FF"/>
          </a:solidFill>
          <a:ln w="19050">
            <a:solidFill>
              <a:srgbClr val="603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010705" y="6248400"/>
            <a:ext cx="95250" cy="95250"/>
          </a:xfrm>
          <a:prstGeom prst="ellipse">
            <a:avLst/>
          </a:prstGeom>
          <a:solidFill>
            <a:srgbClr val="F5F2EA"/>
          </a:solidFill>
          <a:ln w="190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623707" y="6248400"/>
            <a:ext cx="95250" cy="95250"/>
          </a:xfrm>
          <a:prstGeom prst="ellipse">
            <a:avLst/>
          </a:prstGeom>
          <a:solidFill>
            <a:srgbClr val="F5F2EA"/>
          </a:solidFill>
          <a:ln w="190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236709" y="6248400"/>
            <a:ext cx="95250" cy="95250"/>
          </a:xfrm>
          <a:prstGeom prst="ellipse">
            <a:avLst/>
          </a:prstGeom>
          <a:solidFill>
            <a:srgbClr val="F5F2EA"/>
          </a:solidFill>
          <a:ln w="190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849711" y="6248400"/>
            <a:ext cx="95250" cy="95250"/>
          </a:xfrm>
          <a:prstGeom prst="ellipse">
            <a:avLst/>
          </a:prstGeom>
          <a:solidFill>
            <a:srgbClr val="F5F2EA"/>
          </a:solidFill>
          <a:ln w="190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462712" y="6248400"/>
            <a:ext cx="95250" cy="95250"/>
          </a:xfrm>
          <a:prstGeom prst="ellipse">
            <a:avLst/>
          </a:prstGeom>
          <a:solidFill>
            <a:srgbClr val="F5F2EA"/>
          </a:solidFill>
          <a:ln w="190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075714" y="6248400"/>
            <a:ext cx="95250" cy="95250"/>
          </a:xfrm>
          <a:prstGeom prst="ellipse">
            <a:avLst/>
          </a:prstGeom>
          <a:solidFill>
            <a:srgbClr val="F5F2EA"/>
          </a:solidFill>
          <a:ln w="190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688716" y="6248400"/>
            <a:ext cx="95250" cy="95250"/>
          </a:xfrm>
          <a:prstGeom prst="ellipse">
            <a:avLst/>
          </a:prstGeom>
          <a:solidFill>
            <a:srgbClr val="F5F2EA"/>
          </a:solidFill>
          <a:ln w="190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301718" y="6248400"/>
            <a:ext cx="95250" cy="95250"/>
          </a:xfrm>
          <a:prstGeom prst="ellipse">
            <a:avLst/>
          </a:prstGeom>
          <a:solidFill>
            <a:srgbClr val="F5F2EA"/>
          </a:solidFill>
          <a:ln w="190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914720" y="6248400"/>
            <a:ext cx="95250" cy="95250"/>
          </a:xfrm>
          <a:prstGeom prst="ellipse">
            <a:avLst/>
          </a:prstGeom>
          <a:solidFill>
            <a:srgbClr val="F5F2EA"/>
          </a:solidFill>
          <a:ln w="190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527721" y="6248400"/>
            <a:ext cx="95250" cy="95250"/>
          </a:xfrm>
          <a:prstGeom prst="ellipse">
            <a:avLst/>
          </a:prstGeom>
          <a:solidFill>
            <a:srgbClr val="F5F2EA"/>
          </a:solidFill>
          <a:ln w="190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140723" y="6248400"/>
            <a:ext cx="95250" cy="95250"/>
          </a:xfrm>
          <a:prstGeom prst="ellipse">
            <a:avLst/>
          </a:prstGeom>
          <a:solidFill>
            <a:srgbClr val="F5F2EA"/>
          </a:solidFill>
          <a:ln w="190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753725" y="6248400"/>
            <a:ext cx="95250" cy="95250"/>
          </a:xfrm>
          <a:prstGeom prst="ellipse">
            <a:avLst/>
          </a:prstGeom>
          <a:solidFill>
            <a:srgbClr val="F5F2EA"/>
          </a:solidFill>
          <a:ln w="190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877550" y="6229350"/>
            <a:ext cx="6667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spc="120">
                <a:solidFill>
                  <a:srgbClr val="7A7391"/>
                </a:solidFill>
                <a:latin typeface="Menlo"/>
              </a:rPr>
              <a:t>03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7700" y="647700"/>
            <a:ext cx="8572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spc="140">
                <a:solidFill>
                  <a:srgbClr val="7A7391"/>
                </a:solidFill>
                <a:latin typeface="Menlo"/>
              </a:rPr>
              <a:t>03 — THE 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7700" y="895350"/>
            <a:ext cx="10896600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300" b="1" spc="-130">
                <a:solidFill>
                  <a:srgbClr val="100C1C"/>
                </a:solidFill>
                <a:latin typeface="Helvetica Neue"/>
              </a:rPr>
              <a:t>Three tiers of evidence.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300" b="1" spc="-130">
                <a:solidFill>
                  <a:srgbClr val="100C1C"/>
                </a:solidFill>
                <a:latin typeface="Helvetica Neue"/>
              </a:rPr>
              <a:t>Only one counts at full weight.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7700" y="1981200"/>
            <a:ext cx="10896600" cy="9525"/>
          </a:xfrm>
          <a:prstGeom prst="rect">
            <a:avLst/>
          </a:prstGeom>
          <a:solidFill>
            <a:srgbClr val="DED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7700" y="2305050"/>
            <a:ext cx="16192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spc="130">
                <a:solidFill>
                  <a:srgbClr val="7A7391"/>
                </a:solidFill>
                <a:latin typeface="Menlo"/>
              </a:rPr>
              <a:t>TIER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57450" y="2305050"/>
            <a:ext cx="33337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spc="130">
                <a:solidFill>
                  <a:srgbClr val="7A7391"/>
                </a:solidFill>
                <a:latin typeface="Menlo"/>
              </a:rPr>
              <a:t>TRIGGER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81700" y="2305050"/>
            <a:ext cx="6667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spc="130">
                <a:solidFill>
                  <a:srgbClr val="7A7391"/>
                </a:solidFill>
                <a:latin typeface="Menlo"/>
              </a:rPr>
              <a:t>CEILING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86575" y="2305050"/>
            <a:ext cx="6667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spc="130">
                <a:solidFill>
                  <a:srgbClr val="7A7391"/>
                </a:solidFill>
                <a:latin typeface="Menlo"/>
              </a:rPr>
              <a:t>WEIGHT</a:t>
            </a:r>
          </a:p>
        </p:txBody>
      </p:sp>
      <p:sp>
        <p:nvSpPr>
          <p:cNvPr id="9" name="Rectangle 8"/>
          <p:cNvSpPr/>
          <p:nvPr/>
        </p:nvSpPr>
        <p:spPr>
          <a:xfrm>
            <a:off x="647700" y="2495550"/>
            <a:ext cx="6905625" cy="9525"/>
          </a:xfrm>
          <a:prstGeom prst="rect">
            <a:avLst/>
          </a:prstGeom>
          <a:solidFill>
            <a:srgbClr val="DED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7700" y="2657475"/>
            <a:ext cx="76200" cy="76200"/>
          </a:xfrm>
          <a:prstGeom prst="rect">
            <a:avLst/>
          </a:prstGeom>
          <a:solidFill>
            <a:srgbClr val="DED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150" y="2609850"/>
            <a:ext cx="1524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 spc="-40">
                <a:solidFill>
                  <a:srgbClr val="100C1C"/>
                </a:solidFill>
                <a:latin typeface="Helvetica Neue"/>
              </a:rPr>
              <a:t>T1 Asserted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57450" y="2609850"/>
            <a:ext cx="33337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 spc="0">
                <a:solidFill>
                  <a:srgbClr val="7A7391"/>
                </a:solidFill>
                <a:latin typeface="Helvetica Neue"/>
              </a:rPr>
              <a:t>Skill named in a list or title, no task context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1700" y="2609850"/>
            <a:ext cx="6667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400" b="0" spc="0">
                <a:solidFill>
                  <a:srgbClr val="100C1C"/>
                </a:solidFill>
                <a:latin typeface="Menl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86575" y="2609850"/>
            <a:ext cx="6667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400" b="0" spc="0">
                <a:solidFill>
                  <a:srgbClr val="100C1C"/>
                </a:solidFill>
                <a:latin typeface="Menlo"/>
              </a:rPr>
              <a:t>0.4×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7700" y="3009900"/>
            <a:ext cx="6905625" cy="9525"/>
          </a:xfrm>
          <a:prstGeom prst="rect">
            <a:avLst/>
          </a:prstGeom>
          <a:solidFill>
            <a:srgbClr val="DED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7700" y="3171825"/>
            <a:ext cx="76200" cy="76200"/>
          </a:xfrm>
          <a:prstGeom prst="rect">
            <a:avLst/>
          </a:prstGeom>
          <a:solidFill>
            <a:srgbClr val="7A7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9150" y="3124200"/>
            <a:ext cx="1524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 spc="-40">
                <a:solidFill>
                  <a:srgbClr val="100C1C"/>
                </a:solidFill>
                <a:latin typeface="Helvetica Neue"/>
              </a:rPr>
              <a:t>T2 Evidenced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57450" y="3124200"/>
            <a:ext cx="33337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 spc="0">
                <a:solidFill>
                  <a:srgbClr val="7A7391"/>
                </a:solidFill>
                <a:latin typeface="Helvetica Neue"/>
              </a:rPr>
              <a:t>Verbatim evidence of owned work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1700" y="3124200"/>
            <a:ext cx="6667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400" b="0" spc="0">
                <a:solidFill>
                  <a:srgbClr val="100C1C"/>
                </a:solidFill>
                <a:latin typeface="Menlo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86575" y="3124200"/>
            <a:ext cx="6667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400" b="0" spc="0">
                <a:solidFill>
                  <a:srgbClr val="100C1C"/>
                </a:solidFill>
                <a:latin typeface="Menlo"/>
              </a:rPr>
              <a:t>0.6×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7700" y="3524250"/>
            <a:ext cx="6905625" cy="9525"/>
          </a:xfrm>
          <a:prstGeom prst="rect">
            <a:avLst/>
          </a:prstGeom>
          <a:solidFill>
            <a:srgbClr val="DED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7700" y="3686175"/>
            <a:ext cx="76200" cy="76200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9150" y="3638550"/>
            <a:ext cx="1524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 spc="-40">
                <a:solidFill>
                  <a:srgbClr val="FFB020"/>
                </a:solidFill>
                <a:latin typeface="Helvetica Neue"/>
              </a:rPr>
              <a:t>T3 Verified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57450" y="3638550"/>
            <a:ext cx="33337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 spc="0">
                <a:solidFill>
                  <a:srgbClr val="7A7391"/>
                </a:solidFill>
                <a:latin typeface="Helvetica Neue"/>
              </a:rPr>
              <a:t>Correct MCQ performance at the matching tier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81700" y="3638550"/>
            <a:ext cx="6667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400" b="1" spc="0">
                <a:solidFill>
                  <a:srgbClr val="FFB020"/>
                </a:solidFill>
                <a:latin typeface="Menlo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86575" y="3638550"/>
            <a:ext cx="6667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400" b="1" spc="0">
                <a:solidFill>
                  <a:srgbClr val="FFB020"/>
                </a:solidFill>
                <a:latin typeface="Menlo"/>
              </a:rPr>
              <a:t>1.0×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7700" y="4038600"/>
            <a:ext cx="6905625" cy="9525"/>
          </a:xfrm>
          <a:prstGeom prst="rect">
            <a:avLst/>
          </a:prstGeom>
          <a:solidFill>
            <a:srgbClr val="DED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7700" y="4514850"/>
            <a:ext cx="65722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300" b="0" spc="0">
                <a:solidFill>
                  <a:srgbClr val="7A7391"/>
                </a:solidFill>
                <a:latin typeface="Helvetica Neue"/>
              </a:rPr>
              <a:t>Recency decay — </a:t>
            </a:r>
            <a:r>
              <a:rPr sz="1200" b="0" spc="0">
                <a:solidFill>
                  <a:srgbClr val="7A7391"/>
                </a:solidFill>
                <a:latin typeface="Menlo"/>
              </a:rPr>
              <a:t>0.9^years</a:t>
            </a:r>
            <a:r>
              <a:rPr sz="1300" b="0" spc="0">
                <a:solidFill>
                  <a:srgbClr val="7A7391"/>
                </a:solidFill>
                <a:latin typeface="Helvetica Neue"/>
              </a:rPr>
              <a:t>, floored at </a:t>
            </a:r>
            <a:r>
              <a:rPr sz="1200" b="0" spc="0">
                <a:solidFill>
                  <a:srgbClr val="7A7391"/>
                </a:solidFill>
                <a:latin typeface="Menlo"/>
              </a:rPr>
              <a:t>0.4</a:t>
            </a:r>
            <a:r>
              <a:rPr sz="1300" b="0" spc="0">
                <a:solidFill>
                  <a:srgbClr val="7A7391"/>
                </a:solidFill>
                <a:latin typeface="Helvetica Neue"/>
              </a:rPr>
              <a:t> — applies to T1 and T2 only. A verified skill doesn't rot; an asserted one does.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10550" y="2686050"/>
            <a:ext cx="28575" cy="1676400"/>
          </a:xfrm>
          <a:prstGeom prst="rect">
            <a:avLst/>
          </a:prstGeom>
          <a:solidFill>
            <a:srgbClr val="603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01050" y="2686050"/>
            <a:ext cx="28575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 spc="-60">
                <a:solidFill>
                  <a:srgbClr val="100C1C"/>
                </a:solidFill>
                <a:latin typeface="Helvetica Neue"/>
              </a:rPr>
              <a:t>That single rule is the whole product.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01050" y="3219450"/>
            <a:ext cx="28575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250" b="0" spc="0">
                <a:solidFill>
                  <a:srgbClr val="7A7391"/>
                </a:solidFill>
                <a:latin typeface="Helvetica Neue"/>
              </a:rPr>
              <a:t>Because only verified levels drive matching at full weight, every number on the results page traces back to something the user actually demonstrated — or is explicitly discounted for not having been.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250" b="0" spc="0">
                <a:solidFill>
                  <a:srgbClr val="7A7391"/>
                </a:solidFill>
                <a:latin typeface="Helvetica Neue"/>
              </a:rPr>
              <a:t/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250" b="0" spc="0">
                <a:solidFill>
                  <a:srgbClr val="7A7391"/>
                </a:solidFill>
                <a:latin typeface="Helvetica Neue"/>
              </a:rPr>
              <a:t>It is what lets us answer "how do you know?" with an answer instead of a shrug.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7700" y="6229350"/>
            <a:ext cx="14287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spc="120">
                <a:solidFill>
                  <a:srgbClr val="7A7391"/>
                </a:solidFill>
                <a:latin typeface="Menlo"/>
              </a:rPr>
              <a:t>EVIDENCE LADDER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19325" y="6286500"/>
            <a:ext cx="8582025" cy="19050"/>
          </a:xfrm>
          <a:prstGeom prst="rect">
            <a:avLst/>
          </a:prstGeom>
          <a:solidFill>
            <a:srgbClr val="DED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219325" y="6286500"/>
            <a:ext cx="1839005" cy="19050"/>
          </a:xfrm>
          <a:prstGeom prst="rect">
            <a:avLst/>
          </a:prstGeom>
          <a:solidFill>
            <a:srgbClr val="603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171700" y="6248400"/>
            <a:ext cx="95250" cy="95250"/>
          </a:xfrm>
          <a:prstGeom prst="ellipse">
            <a:avLst/>
          </a:prstGeom>
          <a:solidFill>
            <a:srgbClr val="6034FF"/>
          </a:solidFill>
          <a:ln w="19050">
            <a:solidFill>
              <a:srgbClr val="603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784702" y="6248400"/>
            <a:ext cx="95250" cy="95250"/>
          </a:xfrm>
          <a:prstGeom prst="ellipse">
            <a:avLst/>
          </a:prstGeom>
          <a:solidFill>
            <a:srgbClr val="6034FF"/>
          </a:solidFill>
          <a:ln w="19050">
            <a:solidFill>
              <a:srgbClr val="603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397704" y="6248400"/>
            <a:ext cx="95250" cy="95250"/>
          </a:xfrm>
          <a:prstGeom prst="ellipse">
            <a:avLst/>
          </a:prstGeom>
          <a:solidFill>
            <a:srgbClr val="6034FF"/>
          </a:solidFill>
          <a:ln w="19050">
            <a:solidFill>
              <a:srgbClr val="603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3982130" y="6219825"/>
            <a:ext cx="152400" cy="152400"/>
          </a:xfrm>
          <a:prstGeom prst="ellipse">
            <a:avLst/>
          </a:prstGeom>
          <a:solidFill>
            <a:srgbClr val="6034FF"/>
          </a:solidFill>
          <a:ln w="19050">
            <a:solidFill>
              <a:srgbClr val="603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623707" y="6248400"/>
            <a:ext cx="95250" cy="95250"/>
          </a:xfrm>
          <a:prstGeom prst="ellipse">
            <a:avLst/>
          </a:prstGeom>
          <a:solidFill>
            <a:srgbClr val="F5F2EA"/>
          </a:solidFill>
          <a:ln w="190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236709" y="6248400"/>
            <a:ext cx="95250" cy="95250"/>
          </a:xfrm>
          <a:prstGeom prst="ellipse">
            <a:avLst/>
          </a:prstGeom>
          <a:solidFill>
            <a:srgbClr val="F5F2EA"/>
          </a:solidFill>
          <a:ln w="190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849711" y="6248400"/>
            <a:ext cx="95250" cy="95250"/>
          </a:xfrm>
          <a:prstGeom prst="ellipse">
            <a:avLst/>
          </a:prstGeom>
          <a:solidFill>
            <a:srgbClr val="F5F2EA"/>
          </a:solidFill>
          <a:ln w="190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462712" y="6248400"/>
            <a:ext cx="95250" cy="95250"/>
          </a:xfrm>
          <a:prstGeom prst="ellipse">
            <a:avLst/>
          </a:prstGeom>
          <a:solidFill>
            <a:srgbClr val="F5F2EA"/>
          </a:solidFill>
          <a:ln w="190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7075714" y="6248400"/>
            <a:ext cx="95250" cy="95250"/>
          </a:xfrm>
          <a:prstGeom prst="ellipse">
            <a:avLst/>
          </a:prstGeom>
          <a:solidFill>
            <a:srgbClr val="F5F2EA"/>
          </a:solidFill>
          <a:ln w="190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688716" y="6248400"/>
            <a:ext cx="95250" cy="95250"/>
          </a:xfrm>
          <a:prstGeom prst="ellipse">
            <a:avLst/>
          </a:prstGeom>
          <a:solidFill>
            <a:srgbClr val="F5F2EA"/>
          </a:solidFill>
          <a:ln w="190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301718" y="6248400"/>
            <a:ext cx="95250" cy="95250"/>
          </a:xfrm>
          <a:prstGeom prst="ellipse">
            <a:avLst/>
          </a:prstGeom>
          <a:solidFill>
            <a:srgbClr val="F5F2EA"/>
          </a:solidFill>
          <a:ln w="190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914720" y="6248400"/>
            <a:ext cx="95250" cy="95250"/>
          </a:xfrm>
          <a:prstGeom prst="ellipse">
            <a:avLst/>
          </a:prstGeom>
          <a:solidFill>
            <a:srgbClr val="F5F2EA"/>
          </a:solidFill>
          <a:ln w="190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527721" y="6248400"/>
            <a:ext cx="95250" cy="95250"/>
          </a:xfrm>
          <a:prstGeom prst="ellipse">
            <a:avLst/>
          </a:prstGeom>
          <a:solidFill>
            <a:srgbClr val="F5F2EA"/>
          </a:solidFill>
          <a:ln w="190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0140723" y="6248400"/>
            <a:ext cx="95250" cy="95250"/>
          </a:xfrm>
          <a:prstGeom prst="ellipse">
            <a:avLst/>
          </a:prstGeom>
          <a:solidFill>
            <a:srgbClr val="F5F2EA"/>
          </a:solidFill>
          <a:ln w="190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753725" y="6248400"/>
            <a:ext cx="95250" cy="95250"/>
          </a:xfrm>
          <a:prstGeom prst="ellipse">
            <a:avLst/>
          </a:prstGeom>
          <a:solidFill>
            <a:srgbClr val="F5F2EA"/>
          </a:solidFill>
          <a:ln w="190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877550" y="6229350"/>
            <a:ext cx="6667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spc="120">
                <a:solidFill>
                  <a:srgbClr val="7A7391"/>
                </a:solidFill>
                <a:latin typeface="Menlo"/>
              </a:rPr>
              <a:t>04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7700" y="647700"/>
            <a:ext cx="8572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spc="140">
                <a:solidFill>
                  <a:srgbClr val="7A7391"/>
                </a:solidFill>
                <a:latin typeface="Menlo"/>
              </a:rPr>
              <a:t>04 —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7700" y="895350"/>
            <a:ext cx="108966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300" b="1" spc="-130">
                <a:solidFill>
                  <a:srgbClr val="100C1C"/>
                </a:solidFill>
                <a:latin typeface="Helvetica Neue"/>
              </a:rPr>
              <a:t>One Next.js deployable. No database.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7700" y="1562100"/>
            <a:ext cx="10896600" cy="9525"/>
          </a:xfrm>
          <a:prstGeom prst="rect">
            <a:avLst/>
          </a:prstGeom>
          <a:solidFill>
            <a:srgbClr val="DED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7700" y="1885950"/>
            <a:ext cx="6286500" cy="2857500"/>
          </a:xfrm>
          <a:prstGeom prst="rect">
            <a:avLst/>
          </a:prstGeom>
          <a:solidFill>
            <a:srgbClr val="FFFDF8"/>
          </a:solidFill>
          <a:ln w="9525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8200" y="2057400"/>
            <a:ext cx="5905500" cy="2514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100" b="0" spc="0">
                <a:solidFill>
                  <a:srgbClr val="100C1C"/>
                </a:solidFill>
                <a:latin typeface="Menlo"/>
              </a:rPr>
              <a:t>/api/ingest    → unpdf / mammoth  →  Profile Agent</a:t>
            </a:r>
          </a:p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100" b="0" spc="0">
                <a:solidFill>
                  <a:srgbClr val="100C1C"/>
                </a:solidFill>
                <a:latin typeface="Menlo"/>
              </a:rPr>
              <a:t>/api/quiz      → Examiner Agent  →  Validator Agent  →  shuffle</a:t>
            </a:r>
          </a:p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100" b="0" spc="0">
                <a:solidFill>
                  <a:srgbClr val="100C1C"/>
                </a:solidFill>
                <a:latin typeface="Menlo"/>
              </a:rPr>
              <a:t>/api/match     → pure function: filter + weighted gap arithmetic</a:t>
            </a:r>
          </a:p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100" b="0" spc="0">
                <a:solidFill>
                  <a:srgbClr val="100C1C"/>
                </a:solidFill>
                <a:latin typeface="Menlo"/>
              </a:rPr>
              <a:t>/api/pathways  → Career Planner  →  Calibrator  →  differentiation</a:t>
            </a:r>
          </a:p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100" b="0" spc="0">
                <a:solidFill>
                  <a:srgbClr val="100C1C"/>
                </a:solidFill>
                <a:latin typeface="Menlo"/>
              </a:rPr>
              <a:t>/api/demo      → fully pre-computed demo profile</a:t>
            </a:r>
          </a:p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100" b="0" spc="0">
                <a:solidFill>
                  <a:srgbClr val="100C1C"/>
                </a:solidFill>
                <a:latin typeface="Menlo"/>
              </a:rPr>
              <a:t>/api/meta      → static reference data</a:t>
            </a:r>
          </a:p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100" b="0" spc="0">
                <a:solidFill>
                  <a:srgbClr val="100C1C"/>
                </a:solidFill>
                <a:latin typeface="Menlo"/>
              </a:rPr>
              <a:t/>
            </a:r>
          </a:p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100" b="0" spc="0">
                <a:solidFill>
                  <a:srgbClr val="100C1C"/>
                </a:solidFill>
                <a:latin typeface="Menlo"/>
              </a:rPr>
              <a:t>  state   React state + sessionStorage</a:t>
            </a:r>
          </a:p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100" b="0" spc="0">
                <a:solidFill>
                  <a:srgbClr val="100C1C"/>
                </a:solidFill>
                <a:latin typeface="Menlo"/>
              </a:rPr>
              <a:t>  static  roles · taxonomy · fallback_questions</a:t>
            </a:r>
          </a:p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100" b="0" spc="0">
                <a:solidFill>
                  <a:srgbClr val="100C1C"/>
                </a:solidFill>
                <a:latin typeface="Menlo"/>
              </a:rPr>
              <a:t>          resources · demo_profile</a:t>
            </a:r>
          </a:p>
        </p:txBody>
      </p:sp>
      <p:sp>
        <p:nvSpPr>
          <p:cNvPr id="7" name="Rectangle 6"/>
          <p:cNvSpPr/>
          <p:nvPr/>
        </p:nvSpPr>
        <p:spPr>
          <a:xfrm>
            <a:off x="7524750" y="1885950"/>
            <a:ext cx="28575" cy="1676400"/>
          </a:xfrm>
          <a:prstGeom prst="rect">
            <a:avLst/>
          </a:prstGeom>
          <a:solidFill>
            <a:srgbClr val="603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15250" y="1885950"/>
            <a:ext cx="38100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spc="-50">
                <a:solidFill>
                  <a:srgbClr val="100C1C"/>
                </a:solidFill>
                <a:latin typeface="Helvetica Neue"/>
              </a:rPr>
              <a:t>Session-only by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15250" y="2190750"/>
            <a:ext cx="38100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250" b="0" spc="0">
                <a:solidFill>
                  <a:srgbClr val="7A7391"/>
                </a:solidFill>
                <a:latin typeface="Helvetica Neue"/>
              </a:rPr>
              <a:t>No database, no auth, no accounts. Everything lives in the browser tab and dies with it. That is a build-speed decision and a real privacy feature — and it matters more because the app asks about work authorization.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24750" y="3867150"/>
            <a:ext cx="28575" cy="1676400"/>
          </a:xfrm>
          <a:prstGeom prst="rect">
            <a:avLst/>
          </a:prstGeom>
          <a:solidFill>
            <a:srgbClr val="DED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15250" y="3867150"/>
            <a:ext cx="38100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spc="-50">
                <a:solidFill>
                  <a:srgbClr val="100C1C"/>
                </a:solidFill>
                <a:latin typeface="Helvetica Neue"/>
              </a:rPr>
              <a:t>No framework tax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15250" y="4171950"/>
            <a:ext cx="38100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250" b="0" spc="0">
                <a:solidFill>
                  <a:srgbClr val="7A7391"/>
                </a:solidFill>
                <a:latin typeface="Helvetica Neue"/>
              </a:rPr>
              <a:t>Plain CSS custom properties. No CSS framework, no icon library, no chart library, no image assets. Every graphic on screen is inline SVG generated from data.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700" y="6229350"/>
            <a:ext cx="14287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spc="120">
                <a:solidFill>
                  <a:srgbClr val="7A7391"/>
                </a:solidFill>
                <a:latin typeface="Menlo"/>
              </a:rPr>
              <a:t>ARCHITECTURE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19325" y="6286500"/>
            <a:ext cx="8582025" cy="19050"/>
          </a:xfrm>
          <a:prstGeom prst="rect">
            <a:avLst/>
          </a:prstGeom>
          <a:solidFill>
            <a:srgbClr val="DED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19325" y="6286500"/>
            <a:ext cx="2452007" cy="19050"/>
          </a:xfrm>
          <a:prstGeom prst="rect">
            <a:avLst/>
          </a:prstGeom>
          <a:solidFill>
            <a:srgbClr val="603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171700" y="6248400"/>
            <a:ext cx="95250" cy="95250"/>
          </a:xfrm>
          <a:prstGeom prst="ellipse">
            <a:avLst/>
          </a:prstGeom>
          <a:solidFill>
            <a:srgbClr val="6034FF"/>
          </a:solidFill>
          <a:ln w="19050">
            <a:solidFill>
              <a:srgbClr val="603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784702" y="6248400"/>
            <a:ext cx="95250" cy="95250"/>
          </a:xfrm>
          <a:prstGeom prst="ellipse">
            <a:avLst/>
          </a:prstGeom>
          <a:solidFill>
            <a:srgbClr val="6034FF"/>
          </a:solidFill>
          <a:ln w="19050">
            <a:solidFill>
              <a:srgbClr val="603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397704" y="6248400"/>
            <a:ext cx="95250" cy="95250"/>
          </a:xfrm>
          <a:prstGeom prst="ellipse">
            <a:avLst/>
          </a:prstGeom>
          <a:solidFill>
            <a:srgbClr val="6034FF"/>
          </a:solidFill>
          <a:ln w="19050">
            <a:solidFill>
              <a:srgbClr val="603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010705" y="6248400"/>
            <a:ext cx="95250" cy="95250"/>
          </a:xfrm>
          <a:prstGeom prst="ellipse">
            <a:avLst/>
          </a:prstGeom>
          <a:solidFill>
            <a:srgbClr val="6034FF"/>
          </a:solidFill>
          <a:ln w="19050">
            <a:solidFill>
              <a:srgbClr val="603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595132" y="6219825"/>
            <a:ext cx="152400" cy="152400"/>
          </a:xfrm>
          <a:prstGeom prst="ellipse">
            <a:avLst/>
          </a:prstGeom>
          <a:solidFill>
            <a:srgbClr val="6034FF"/>
          </a:solidFill>
          <a:ln w="19050">
            <a:solidFill>
              <a:srgbClr val="603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236709" y="6248400"/>
            <a:ext cx="95250" cy="95250"/>
          </a:xfrm>
          <a:prstGeom prst="ellipse">
            <a:avLst/>
          </a:prstGeom>
          <a:solidFill>
            <a:srgbClr val="F5F2EA"/>
          </a:solidFill>
          <a:ln w="190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849711" y="6248400"/>
            <a:ext cx="95250" cy="95250"/>
          </a:xfrm>
          <a:prstGeom prst="ellipse">
            <a:avLst/>
          </a:prstGeom>
          <a:solidFill>
            <a:srgbClr val="F5F2EA"/>
          </a:solidFill>
          <a:ln w="190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62712" y="6248400"/>
            <a:ext cx="95250" cy="95250"/>
          </a:xfrm>
          <a:prstGeom prst="ellipse">
            <a:avLst/>
          </a:prstGeom>
          <a:solidFill>
            <a:srgbClr val="F5F2EA"/>
          </a:solidFill>
          <a:ln w="190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075714" y="6248400"/>
            <a:ext cx="95250" cy="95250"/>
          </a:xfrm>
          <a:prstGeom prst="ellipse">
            <a:avLst/>
          </a:prstGeom>
          <a:solidFill>
            <a:srgbClr val="F5F2EA"/>
          </a:solidFill>
          <a:ln w="190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688716" y="6248400"/>
            <a:ext cx="95250" cy="95250"/>
          </a:xfrm>
          <a:prstGeom prst="ellipse">
            <a:avLst/>
          </a:prstGeom>
          <a:solidFill>
            <a:srgbClr val="F5F2EA"/>
          </a:solidFill>
          <a:ln w="190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301718" y="6248400"/>
            <a:ext cx="95250" cy="95250"/>
          </a:xfrm>
          <a:prstGeom prst="ellipse">
            <a:avLst/>
          </a:prstGeom>
          <a:solidFill>
            <a:srgbClr val="F5F2EA"/>
          </a:solidFill>
          <a:ln w="190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914720" y="6248400"/>
            <a:ext cx="95250" cy="95250"/>
          </a:xfrm>
          <a:prstGeom prst="ellipse">
            <a:avLst/>
          </a:prstGeom>
          <a:solidFill>
            <a:srgbClr val="F5F2EA"/>
          </a:solidFill>
          <a:ln w="190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527721" y="6248400"/>
            <a:ext cx="95250" cy="95250"/>
          </a:xfrm>
          <a:prstGeom prst="ellipse">
            <a:avLst/>
          </a:prstGeom>
          <a:solidFill>
            <a:srgbClr val="F5F2EA"/>
          </a:solidFill>
          <a:ln w="190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0723" y="6248400"/>
            <a:ext cx="95250" cy="95250"/>
          </a:xfrm>
          <a:prstGeom prst="ellipse">
            <a:avLst/>
          </a:prstGeom>
          <a:solidFill>
            <a:srgbClr val="F5F2EA"/>
          </a:solidFill>
          <a:ln w="190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753725" y="6248400"/>
            <a:ext cx="95250" cy="95250"/>
          </a:xfrm>
          <a:prstGeom prst="ellipse">
            <a:avLst/>
          </a:prstGeom>
          <a:solidFill>
            <a:srgbClr val="F5F2EA"/>
          </a:solidFill>
          <a:ln w="190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877550" y="6229350"/>
            <a:ext cx="6667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spc="120">
                <a:solidFill>
                  <a:srgbClr val="7A7391"/>
                </a:solidFill>
                <a:latin typeface="Menlo"/>
              </a:rPr>
              <a:t>05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7700" y="647700"/>
            <a:ext cx="8572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spc="140">
                <a:solidFill>
                  <a:srgbClr val="7A7391"/>
                </a:solidFill>
                <a:latin typeface="Menlo"/>
              </a:rPr>
              <a:t>05 — SIX COMPONENTS, FOUR LLM-DRIVEN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7700" y="895350"/>
            <a:ext cx="108966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300" b="1" spc="-130">
                <a:solidFill>
                  <a:srgbClr val="100C1C"/>
                </a:solidFill>
                <a:latin typeface="Helvetica Neue"/>
              </a:rPr>
              <a:t>Where it is agentic — and where it deliberately isn't.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7700" y="1562100"/>
            <a:ext cx="10896600" cy="9525"/>
          </a:xfrm>
          <a:prstGeom prst="rect">
            <a:avLst/>
          </a:prstGeom>
          <a:solidFill>
            <a:srgbClr val="DED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7700" y="1885950"/>
            <a:ext cx="3619500" cy="1638300"/>
          </a:xfrm>
          <a:prstGeom prst="rect">
            <a:avLst/>
          </a:prstGeom>
          <a:solidFill>
            <a:srgbClr val="FFFDF8"/>
          </a:solidFill>
          <a:ln w="9525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9150" y="2038350"/>
            <a:ext cx="3276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spc="-40">
                <a:solidFill>
                  <a:srgbClr val="100C1C"/>
                </a:solidFill>
                <a:latin typeface="Helvetica Neue"/>
              </a:rPr>
              <a:t>Profile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9150" y="2324100"/>
            <a:ext cx="3276600" cy="781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150" b="0" spc="0">
                <a:solidFill>
                  <a:srgbClr val="7A7391"/>
                </a:solidFill>
                <a:latin typeface="Helvetica Neue"/>
              </a:rPr>
              <a:t>Evidence-grounded skill extraction, schema-constrained with enforced evidence rules.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819150" y="3162300"/>
            <a:ext cx="1564005" cy="190500"/>
          </a:xfrm>
          <a:prstGeom prst="rect">
            <a:avLst/>
          </a:prstGeom>
          <a:noFill/>
          <a:ln w="9525">
            <a:solidFill>
              <a:srgbClr val="7A73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4875" y="3219450"/>
            <a:ext cx="285750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spc="110">
                <a:solidFill>
                  <a:srgbClr val="7A7391"/>
                </a:solidFill>
                <a:latin typeface="Menlo"/>
              </a:rPr>
              <a:t>PARTIALLY AGENTIC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1500" y="1885950"/>
            <a:ext cx="3619500" cy="1638300"/>
          </a:xfrm>
          <a:prstGeom prst="rect">
            <a:avLst/>
          </a:prstGeom>
          <a:solidFill>
            <a:srgbClr val="FFFDF8"/>
          </a:solidFill>
          <a:ln w="9525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2950" y="2038350"/>
            <a:ext cx="3276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spc="-40">
                <a:solidFill>
                  <a:srgbClr val="100C1C"/>
                </a:solidFill>
                <a:latin typeface="Helvetica Neue"/>
              </a:rPr>
              <a:t>Examiner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2950" y="2324100"/>
            <a:ext cx="3276600" cy="781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150" b="0" spc="0">
                <a:solidFill>
                  <a:srgbClr val="7A7391"/>
                </a:solidFill>
                <a:latin typeface="Helvetica Neue"/>
              </a:rPr>
              <a:t>Leveled assessment items targeted by risk and preference. Selection deterministic, generation model-driven.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52950" y="3162300"/>
            <a:ext cx="1564005" cy="190500"/>
          </a:xfrm>
          <a:prstGeom prst="rect">
            <a:avLst/>
          </a:prstGeom>
          <a:noFill/>
          <a:ln w="9525">
            <a:solidFill>
              <a:srgbClr val="7A73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8675" y="3219450"/>
            <a:ext cx="285750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spc="110">
                <a:solidFill>
                  <a:srgbClr val="7A7391"/>
                </a:solidFill>
                <a:latin typeface="Menlo"/>
              </a:rPr>
              <a:t>PARTIALLY AGENTIC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15300" y="1885950"/>
            <a:ext cx="3619500" cy="1638300"/>
          </a:xfrm>
          <a:prstGeom prst="rect">
            <a:avLst/>
          </a:prstGeom>
          <a:solidFill>
            <a:srgbClr val="FFFDF8"/>
          </a:solidFill>
          <a:ln w="9525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86750" y="2038350"/>
            <a:ext cx="3276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spc="-40">
                <a:solidFill>
                  <a:srgbClr val="100C1C"/>
                </a:solidFill>
                <a:latin typeface="Helvetica Neue"/>
              </a:rPr>
              <a:t>Validator 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6750" y="2324100"/>
            <a:ext cx="3276600" cy="781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150" b="0" spc="0">
                <a:solidFill>
                  <a:srgbClr val="7A7391"/>
                </a:solidFill>
                <a:latin typeface="Helvetica Neue"/>
              </a:rPr>
              <a:t>Adversarially attacks the Examiner's output and forces backfill. A real rejection loop.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86750" y="3162300"/>
            <a:ext cx="1564005" cy="190500"/>
          </a:xfrm>
          <a:prstGeom prst="rect">
            <a:avLst/>
          </a:prstGeom>
          <a:noFill/>
          <a:ln w="9525">
            <a:solidFill>
              <a:srgbClr val="603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72475" y="3219450"/>
            <a:ext cx="285750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spc="110">
                <a:solidFill>
                  <a:srgbClr val="6034FF"/>
                </a:solidFill>
                <a:latin typeface="Menlo"/>
              </a:rPr>
              <a:t>GENUINELY AGENTIC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7700" y="3638550"/>
            <a:ext cx="3619500" cy="1638300"/>
          </a:xfrm>
          <a:prstGeom prst="rect">
            <a:avLst/>
          </a:prstGeom>
          <a:solidFill>
            <a:srgbClr val="FFFDF8"/>
          </a:solidFill>
          <a:ln w="9525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9150" y="3790950"/>
            <a:ext cx="3276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spc="-40">
                <a:solidFill>
                  <a:srgbClr val="100C1C"/>
                </a:solidFill>
                <a:latin typeface="Helvetica Neue"/>
              </a:rPr>
              <a:t>Matching Engine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9150" y="4076700"/>
            <a:ext cx="3276600" cy="781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150" b="0" spc="0">
                <a:solidFill>
                  <a:srgbClr val="7A7391"/>
                </a:solidFill>
                <a:latin typeface="Helvetica Neue"/>
              </a:rPr>
              <a:t>Constraint filter plus weighted gap arithmetic. A pure function, start to finish.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9150" y="4914900"/>
            <a:ext cx="2055495" cy="190500"/>
          </a:xfrm>
          <a:prstGeom prst="rect">
            <a:avLst/>
          </a:prstGeom>
          <a:noFill/>
          <a:ln w="9525">
            <a:solidFill>
              <a:srgbClr val="100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4875" y="4972050"/>
            <a:ext cx="285750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spc="110">
                <a:solidFill>
                  <a:srgbClr val="100C1C"/>
                </a:solidFill>
                <a:latin typeface="Menlo"/>
              </a:rPr>
              <a:t>DETERMINISTIC BY CHOICE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81500" y="3638550"/>
            <a:ext cx="3619500" cy="1638300"/>
          </a:xfrm>
          <a:prstGeom prst="rect">
            <a:avLst/>
          </a:prstGeom>
          <a:solidFill>
            <a:srgbClr val="FFFDF8"/>
          </a:solidFill>
          <a:ln w="9525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52950" y="3790950"/>
            <a:ext cx="3276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spc="-40">
                <a:solidFill>
                  <a:srgbClr val="100C1C"/>
                </a:solidFill>
                <a:latin typeface="Helvetica Neue"/>
              </a:rPr>
              <a:t>Career Planner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52950" y="4076700"/>
            <a:ext cx="3276600" cy="781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150" b="0" spc="0">
                <a:solidFill>
                  <a:srgbClr val="7A7391"/>
                </a:solidFill>
                <a:latin typeface="Helvetica Neue"/>
              </a:rPr>
              <a:t>Three differentiated pathways generated under hard constraints, then checked for overlap.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52950" y="4914900"/>
            <a:ext cx="1564005" cy="190500"/>
          </a:xfrm>
          <a:prstGeom prst="rect">
            <a:avLst/>
          </a:prstGeom>
          <a:noFill/>
          <a:ln w="9525">
            <a:solidFill>
              <a:srgbClr val="7A73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38675" y="4972050"/>
            <a:ext cx="285750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spc="110">
                <a:solidFill>
                  <a:srgbClr val="7A7391"/>
                </a:solidFill>
                <a:latin typeface="Menlo"/>
              </a:rPr>
              <a:t>PARTIALLY AGENTIC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15300" y="3638550"/>
            <a:ext cx="3619500" cy="1638300"/>
          </a:xfrm>
          <a:prstGeom prst="rect">
            <a:avLst/>
          </a:prstGeom>
          <a:solidFill>
            <a:srgbClr val="FFFDF8"/>
          </a:solidFill>
          <a:ln w="9525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86750" y="3790950"/>
            <a:ext cx="3276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spc="-40">
                <a:solidFill>
                  <a:srgbClr val="100C1C"/>
                </a:solidFill>
                <a:latin typeface="Helvetica Neue"/>
              </a:rPr>
              <a:t>Calibrator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86750" y="4076700"/>
            <a:ext cx="3276600" cy="781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150" b="0" spc="0">
                <a:solidFill>
                  <a:srgbClr val="7A7391"/>
                </a:solidFill>
                <a:latin typeface="Helvetica Neue"/>
              </a:rPr>
              <a:t>Consumes learner telemetry and adjusts time estimates. A heuristic function.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86750" y="4914900"/>
            <a:ext cx="2055495" cy="190500"/>
          </a:xfrm>
          <a:prstGeom prst="rect">
            <a:avLst/>
          </a:prstGeom>
          <a:noFill/>
          <a:ln w="9525">
            <a:solidFill>
              <a:srgbClr val="100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72475" y="4972050"/>
            <a:ext cx="285750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spc="110">
                <a:solidFill>
                  <a:srgbClr val="100C1C"/>
                </a:solidFill>
                <a:latin typeface="Menlo"/>
              </a:rPr>
              <a:t>DETERMINISTIC BY CHOICE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7700" y="5524500"/>
            <a:ext cx="9525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 spc="0">
                <a:solidFill>
                  <a:srgbClr val="7A7391"/>
                </a:solidFill>
                <a:latin typeface="Helvetica Neue"/>
              </a:rPr>
              <a:t>The matcher and calibrator are deterministic </a:t>
            </a:r>
            <a:r>
              <a:rPr sz="1300" b="1" spc="0">
                <a:solidFill>
                  <a:srgbClr val="7A7391"/>
                </a:solidFill>
                <a:latin typeface="Helvetica Neue"/>
              </a:rPr>
              <a:t>on purpose</a:t>
            </a:r>
            <a:r>
              <a:rPr sz="1300" b="0" spc="0">
                <a:solidFill>
                  <a:srgbClr val="7A7391"/>
                </a:solidFill>
                <a:latin typeface="Helvetica Neue"/>
              </a:rPr>
              <a:t>. A career recommendation should be explainable, not a black box.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7700" y="6229350"/>
            <a:ext cx="14287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spc="120">
                <a:solidFill>
                  <a:srgbClr val="7A7391"/>
                </a:solidFill>
                <a:latin typeface="Menlo"/>
              </a:rPr>
              <a:t>COMPONENTS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19325" y="6286500"/>
            <a:ext cx="8582025" cy="19050"/>
          </a:xfrm>
          <a:prstGeom prst="rect">
            <a:avLst/>
          </a:prstGeom>
          <a:solidFill>
            <a:srgbClr val="DED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219325" y="6286500"/>
            <a:ext cx="3065009" cy="19050"/>
          </a:xfrm>
          <a:prstGeom prst="rect">
            <a:avLst/>
          </a:prstGeom>
          <a:solidFill>
            <a:srgbClr val="603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171700" y="6248400"/>
            <a:ext cx="95250" cy="95250"/>
          </a:xfrm>
          <a:prstGeom prst="ellipse">
            <a:avLst/>
          </a:prstGeom>
          <a:solidFill>
            <a:srgbClr val="6034FF"/>
          </a:solidFill>
          <a:ln w="19050">
            <a:solidFill>
              <a:srgbClr val="603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784702" y="6248400"/>
            <a:ext cx="95250" cy="95250"/>
          </a:xfrm>
          <a:prstGeom prst="ellipse">
            <a:avLst/>
          </a:prstGeom>
          <a:solidFill>
            <a:srgbClr val="6034FF"/>
          </a:solidFill>
          <a:ln w="19050">
            <a:solidFill>
              <a:srgbClr val="603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3397704" y="6248400"/>
            <a:ext cx="95250" cy="95250"/>
          </a:xfrm>
          <a:prstGeom prst="ellipse">
            <a:avLst/>
          </a:prstGeom>
          <a:solidFill>
            <a:srgbClr val="6034FF"/>
          </a:solidFill>
          <a:ln w="19050">
            <a:solidFill>
              <a:srgbClr val="603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4010705" y="6248400"/>
            <a:ext cx="95250" cy="95250"/>
          </a:xfrm>
          <a:prstGeom prst="ellipse">
            <a:avLst/>
          </a:prstGeom>
          <a:solidFill>
            <a:srgbClr val="6034FF"/>
          </a:solidFill>
          <a:ln w="19050">
            <a:solidFill>
              <a:srgbClr val="603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623707" y="6248400"/>
            <a:ext cx="95250" cy="95250"/>
          </a:xfrm>
          <a:prstGeom prst="ellipse">
            <a:avLst/>
          </a:prstGeom>
          <a:solidFill>
            <a:srgbClr val="6034FF"/>
          </a:solidFill>
          <a:ln w="19050">
            <a:solidFill>
              <a:srgbClr val="603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208134" y="6219825"/>
            <a:ext cx="152400" cy="152400"/>
          </a:xfrm>
          <a:prstGeom prst="ellipse">
            <a:avLst/>
          </a:prstGeom>
          <a:solidFill>
            <a:srgbClr val="6034FF"/>
          </a:solidFill>
          <a:ln w="19050">
            <a:solidFill>
              <a:srgbClr val="603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5849711" y="6248400"/>
            <a:ext cx="95250" cy="95250"/>
          </a:xfrm>
          <a:prstGeom prst="ellipse">
            <a:avLst/>
          </a:prstGeom>
          <a:solidFill>
            <a:srgbClr val="F5F2EA"/>
          </a:solidFill>
          <a:ln w="190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462712" y="6248400"/>
            <a:ext cx="95250" cy="95250"/>
          </a:xfrm>
          <a:prstGeom prst="ellipse">
            <a:avLst/>
          </a:prstGeom>
          <a:solidFill>
            <a:srgbClr val="F5F2EA"/>
          </a:solidFill>
          <a:ln w="190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075714" y="6248400"/>
            <a:ext cx="95250" cy="95250"/>
          </a:xfrm>
          <a:prstGeom prst="ellipse">
            <a:avLst/>
          </a:prstGeom>
          <a:solidFill>
            <a:srgbClr val="F5F2EA"/>
          </a:solidFill>
          <a:ln w="190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688716" y="6248400"/>
            <a:ext cx="95250" cy="95250"/>
          </a:xfrm>
          <a:prstGeom prst="ellipse">
            <a:avLst/>
          </a:prstGeom>
          <a:solidFill>
            <a:srgbClr val="F5F2EA"/>
          </a:solidFill>
          <a:ln w="190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8301718" y="6248400"/>
            <a:ext cx="95250" cy="95250"/>
          </a:xfrm>
          <a:prstGeom prst="ellipse">
            <a:avLst/>
          </a:prstGeom>
          <a:solidFill>
            <a:srgbClr val="F5F2EA"/>
          </a:solidFill>
          <a:ln w="190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8914720" y="6248400"/>
            <a:ext cx="95250" cy="95250"/>
          </a:xfrm>
          <a:prstGeom prst="ellipse">
            <a:avLst/>
          </a:prstGeom>
          <a:solidFill>
            <a:srgbClr val="F5F2EA"/>
          </a:solidFill>
          <a:ln w="190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527721" y="6248400"/>
            <a:ext cx="95250" cy="95250"/>
          </a:xfrm>
          <a:prstGeom prst="ellipse">
            <a:avLst/>
          </a:prstGeom>
          <a:solidFill>
            <a:srgbClr val="F5F2EA"/>
          </a:solidFill>
          <a:ln w="190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140723" y="6248400"/>
            <a:ext cx="95250" cy="95250"/>
          </a:xfrm>
          <a:prstGeom prst="ellipse">
            <a:avLst/>
          </a:prstGeom>
          <a:solidFill>
            <a:srgbClr val="F5F2EA"/>
          </a:solidFill>
          <a:ln w="190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0753725" y="6248400"/>
            <a:ext cx="95250" cy="95250"/>
          </a:xfrm>
          <a:prstGeom prst="ellipse">
            <a:avLst/>
          </a:prstGeom>
          <a:solidFill>
            <a:srgbClr val="F5F2EA"/>
          </a:solidFill>
          <a:ln w="190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877550" y="6229350"/>
            <a:ext cx="6667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spc="120">
                <a:solidFill>
                  <a:srgbClr val="7A7391"/>
                </a:solidFill>
                <a:latin typeface="Menlo"/>
              </a:rPr>
              <a:t>06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7700" y="647700"/>
            <a:ext cx="8572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spc="140">
                <a:solidFill>
                  <a:srgbClr val="9A92B4"/>
                </a:solidFill>
                <a:latin typeface="Menlo"/>
              </a:rPr>
              <a:t>06 — THE GENUINELY AGENTIC PIECE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7700" y="1028700"/>
            <a:ext cx="10896600" cy="9525"/>
          </a:xfrm>
          <a:prstGeom prst="rect">
            <a:avLst/>
          </a:prstGeom>
          <a:solidFill>
            <a:srgbClr val="2E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7700" y="1809750"/>
            <a:ext cx="4953000" cy="161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600" b="1" spc="-160">
                <a:solidFill>
                  <a:srgbClr val="F5F2EA"/>
                </a:solidFill>
                <a:latin typeface="Helvetica Neue"/>
              </a:rPr>
              <a:t>One agent's entire job is to attack another's work.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7700" y="3676650"/>
            <a:ext cx="47625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350" b="0" spc="0">
                <a:solidFill>
                  <a:srgbClr val="9A92B4"/>
                </a:solidFill>
                <a:latin typeface="Helvetica Neue"/>
              </a:rPr>
              <a:t>The Validator reads every question the Examiner produces and tries to break it: ambiguous stems, more than one defensible answer, a distractor that's actually correct, a tier mismatch. Rejected items are regenerated, not patched.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6667500" y="1809750"/>
            <a:ext cx="4876800" cy="2266950"/>
          </a:xfrm>
          <a:prstGeom prst="rect">
            <a:avLst/>
          </a:prstGeom>
          <a:solidFill>
            <a:srgbClr val="191330"/>
          </a:solidFill>
          <a:ln w="9525">
            <a:solidFill>
              <a:srgbClr val="2E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0" y="1981200"/>
            <a:ext cx="4495800" cy="1924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100" b="0" spc="0">
                <a:solidFill>
                  <a:srgbClr val="F5F2EA"/>
                </a:solidFill>
                <a:latin typeface="Menlo"/>
              </a:rPr>
              <a:t>Examiner   → 21 items (7 skills × 3 tiers)</a:t>
            </a:r>
          </a:p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100" b="0" spc="0">
                <a:solidFill>
                  <a:srgbClr val="F5F2EA"/>
                </a:solidFill>
                <a:latin typeface="Menlo"/>
              </a:rPr>
              <a:t>              ↓</a:t>
            </a:r>
          </a:p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100" b="0" spc="0">
                <a:solidFill>
                  <a:srgbClr val="F5F2EA"/>
                </a:solidFill>
                <a:latin typeface="Menlo"/>
              </a:rPr>
              <a:t>Validator  → attack each item</a:t>
            </a:r>
          </a:p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100" b="0" spc="0">
                <a:solidFill>
                  <a:srgbClr val="F5F2EA"/>
                </a:solidFill>
                <a:latin typeface="Menlo"/>
              </a:rPr>
              <a:t>              ↓</a:t>
            </a:r>
          </a:p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100" b="0" spc="0">
                <a:solidFill>
                  <a:srgbClr val="F5F2EA"/>
                </a:solidFill>
                <a:latin typeface="Menlo"/>
              </a:rPr>
              <a:t>           reject → regenerate → re-attack</a:t>
            </a:r>
          </a:p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100" b="0" spc="0">
                <a:solidFill>
                  <a:srgbClr val="F5F2EA"/>
                </a:solidFill>
                <a:latin typeface="Menlo"/>
              </a:rPr>
              <a:t>              ↓</a:t>
            </a:r>
          </a:p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100" b="0" spc="0">
                <a:solidFill>
                  <a:srgbClr val="F5F2EA"/>
                </a:solidFill>
                <a:latin typeface="Menlo"/>
              </a:rPr>
              <a:t>Scheduler  → serve 12, adaptive difficulty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67500" y="4305300"/>
            <a:ext cx="487680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250" b="0" spc="0">
                <a:solidFill>
                  <a:srgbClr val="9A92B4"/>
                </a:solidFill>
                <a:latin typeface="Helvetica Neue"/>
              </a:rPr>
              <a:t>That loop is what makes the assessment defensible. Without it, "verified" would just mean "the model wrote a question and the model liked it."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700" y="6229350"/>
            <a:ext cx="14287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spc="120">
                <a:solidFill>
                  <a:srgbClr val="9A92B4"/>
                </a:solidFill>
                <a:latin typeface="Menlo"/>
              </a:rPr>
              <a:t>VALIDATOR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19325" y="6286500"/>
            <a:ext cx="8582025" cy="19050"/>
          </a:xfrm>
          <a:prstGeom prst="rect">
            <a:avLst/>
          </a:prstGeom>
          <a:solidFill>
            <a:srgbClr val="2E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19325" y="6286500"/>
            <a:ext cx="3678011" cy="19050"/>
          </a:xfrm>
          <a:prstGeom prst="rect">
            <a:avLst/>
          </a:prstGeom>
          <a:solidFill>
            <a:srgbClr val="603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171700" y="6248400"/>
            <a:ext cx="95250" cy="95250"/>
          </a:xfrm>
          <a:prstGeom prst="ellipse">
            <a:avLst/>
          </a:prstGeom>
          <a:solidFill>
            <a:srgbClr val="6034FF"/>
          </a:solidFill>
          <a:ln w="19050">
            <a:solidFill>
              <a:srgbClr val="603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784702" y="6248400"/>
            <a:ext cx="95250" cy="95250"/>
          </a:xfrm>
          <a:prstGeom prst="ellipse">
            <a:avLst/>
          </a:prstGeom>
          <a:solidFill>
            <a:srgbClr val="6034FF"/>
          </a:solidFill>
          <a:ln w="19050">
            <a:solidFill>
              <a:srgbClr val="603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397704" y="6248400"/>
            <a:ext cx="95250" cy="95250"/>
          </a:xfrm>
          <a:prstGeom prst="ellipse">
            <a:avLst/>
          </a:prstGeom>
          <a:solidFill>
            <a:srgbClr val="6034FF"/>
          </a:solidFill>
          <a:ln w="19050">
            <a:solidFill>
              <a:srgbClr val="603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010705" y="6248400"/>
            <a:ext cx="95250" cy="95250"/>
          </a:xfrm>
          <a:prstGeom prst="ellipse">
            <a:avLst/>
          </a:prstGeom>
          <a:solidFill>
            <a:srgbClr val="6034FF"/>
          </a:solidFill>
          <a:ln w="19050">
            <a:solidFill>
              <a:srgbClr val="603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623707" y="6248400"/>
            <a:ext cx="95250" cy="95250"/>
          </a:xfrm>
          <a:prstGeom prst="ellipse">
            <a:avLst/>
          </a:prstGeom>
          <a:solidFill>
            <a:srgbClr val="6034FF"/>
          </a:solidFill>
          <a:ln w="19050">
            <a:solidFill>
              <a:srgbClr val="603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236709" y="6248400"/>
            <a:ext cx="95250" cy="95250"/>
          </a:xfrm>
          <a:prstGeom prst="ellipse">
            <a:avLst/>
          </a:prstGeom>
          <a:solidFill>
            <a:srgbClr val="6034FF"/>
          </a:solidFill>
          <a:ln w="19050">
            <a:solidFill>
              <a:srgbClr val="603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821136" y="6219825"/>
            <a:ext cx="152400" cy="152400"/>
          </a:xfrm>
          <a:prstGeom prst="ellipse">
            <a:avLst/>
          </a:prstGeom>
          <a:solidFill>
            <a:srgbClr val="6034FF"/>
          </a:solidFill>
          <a:ln w="19050">
            <a:solidFill>
              <a:srgbClr val="603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62712" y="6248400"/>
            <a:ext cx="95250" cy="95250"/>
          </a:xfrm>
          <a:prstGeom prst="ellipse">
            <a:avLst/>
          </a:prstGeom>
          <a:solidFill>
            <a:srgbClr val="100C1C"/>
          </a:solidFill>
          <a:ln w="19050">
            <a:solidFill>
              <a:srgbClr val="2E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075714" y="6248400"/>
            <a:ext cx="95250" cy="95250"/>
          </a:xfrm>
          <a:prstGeom prst="ellipse">
            <a:avLst/>
          </a:prstGeom>
          <a:solidFill>
            <a:srgbClr val="100C1C"/>
          </a:solidFill>
          <a:ln w="19050">
            <a:solidFill>
              <a:srgbClr val="2E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688716" y="6248400"/>
            <a:ext cx="95250" cy="95250"/>
          </a:xfrm>
          <a:prstGeom prst="ellipse">
            <a:avLst/>
          </a:prstGeom>
          <a:solidFill>
            <a:srgbClr val="100C1C"/>
          </a:solidFill>
          <a:ln w="19050">
            <a:solidFill>
              <a:srgbClr val="2E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301718" y="6248400"/>
            <a:ext cx="95250" cy="95250"/>
          </a:xfrm>
          <a:prstGeom prst="ellipse">
            <a:avLst/>
          </a:prstGeom>
          <a:solidFill>
            <a:srgbClr val="100C1C"/>
          </a:solidFill>
          <a:ln w="19050">
            <a:solidFill>
              <a:srgbClr val="2E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914720" y="6248400"/>
            <a:ext cx="95250" cy="95250"/>
          </a:xfrm>
          <a:prstGeom prst="ellipse">
            <a:avLst/>
          </a:prstGeom>
          <a:solidFill>
            <a:srgbClr val="100C1C"/>
          </a:solidFill>
          <a:ln w="19050">
            <a:solidFill>
              <a:srgbClr val="2E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527721" y="6248400"/>
            <a:ext cx="95250" cy="95250"/>
          </a:xfrm>
          <a:prstGeom prst="ellipse">
            <a:avLst/>
          </a:prstGeom>
          <a:solidFill>
            <a:srgbClr val="100C1C"/>
          </a:solidFill>
          <a:ln w="19050">
            <a:solidFill>
              <a:srgbClr val="2E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140723" y="6248400"/>
            <a:ext cx="95250" cy="95250"/>
          </a:xfrm>
          <a:prstGeom prst="ellipse">
            <a:avLst/>
          </a:prstGeom>
          <a:solidFill>
            <a:srgbClr val="100C1C"/>
          </a:solidFill>
          <a:ln w="19050">
            <a:solidFill>
              <a:srgbClr val="2E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753725" y="6248400"/>
            <a:ext cx="95250" cy="95250"/>
          </a:xfrm>
          <a:prstGeom prst="ellipse">
            <a:avLst/>
          </a:prstGeom>
          <a:solidFill>
            <a:srgbClr val="100C1C"/>
          </a:solidFill>
          <a:ln w="19050">
            <a:solidFill>
              <a:srgbClr val="2E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877550" y="6229350"/>
            <a:ext cx="6667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spc="120">
                <a:solidFill>
                  <a:srgbClr val="9A92B4"/>
                </a:solidFill>
                <a:latin typeface="Menlo"/>
              </a:rPr>
              <a:t>07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7700" y="647700"/>
            <a:ext cx="8572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spc="140">
                <a:solidFill>
                  <a:srgbClr val="7A7391"/>
                </a:solidFill>
                <a:latin typeface="Menlo"/>
              </a:rPr>
              <a:t>07 — GROUNDING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7700" y="895350"/>
            <a:ext cx="10896600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300" b="1" spc="-130">
                <a:solidFill>
                  <a:srgbClr val="100C1C"/>
                </a:solidFill>
                <a:latin typeface="Helvetica Neue"/>
              </a:rPr>
              <a:t>428 real postings,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300" b="1" spc="-130">
                <a:solidFill>
                  <a:srgbClr val="100C1C"/>
                </a:solidFill>
                <a:latin typeface="Helvetica Neue"/>
              </a:rPr>
              <a:t>normalised into 12 role archetypes.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7700" y="1981200"/>
            <a:ext cx="10896600" cy="9525"/>
          </a:xfrm>
          <a:prstGeom prst="rect">
            <a:avLst/>
          </a:prstGeom>
          <a:solidFill>
            <a:srgbClr val="DED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7700" y="2305050"/>
            <a:ext cx="18669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spc="0">
                <a:solidFill>
                  <a:srgbClr val="100C1C"/>
                </a:solidFill>
                <a:latin typeface="Helvetica Neue"/>
              </a:rPr>
              <a:t>Data Analyst (AI-Adjacent)</a:t>
            </a:r>
          </a:p>
        </p:txBody>
      </p:sp>
      <p:sp>
        <p:nvSpPr>
          <p:cNvPr id="6" name="Rectangle 5"/>
          <p:cNvSpPr/>
          <p:nvPr/>
        </p:nvSpPr>
        <p:spPr>
          <a:xfrm>
            <a:off x="2628900" y="2324100"/>
            <a:ext cx="2857500" cy="104775"/>
          </a:xfrm>
          <a:prstGeom prst="rect">
            <a:avLst/>
          </a:prstGeom>
          <a:solidFill>
            <a:srgbClr val="DED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628900" y="2324100"/>
            <a:ext cx="2857500" cy="104775"/>
          </a:xfrm>
          <a:prstGeom prst="rect">
            <a:avLst/>
          </a:prstGeom>
          <a:solidFill>
            <a:srgbClr val="100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81650" y="2305050"/>
            <a:ext cx="381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00" b="0" spc="0">
                <a:solidFill>
                  <a:srgbClr val="7A7391"/>
                </a:solidFill>
                <a:latin typeface="Menlo"/>
              </a:rPr>
              <a:t>61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700" y="2552700"/>
            <a:ext cx="18669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spc="0">
                <a:solidFill>
                  <a:srgbClr val="100C1C"/>
                </a:solidFill>
                <a:latin typeface="Helvetica Neue"/>
              </a:rPr>
              <a:t>Data Scientist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28900" y="2571750"/>
            <a:ext cx="2857500" cy="104775"/>
          </a:xfrm>
          <a:prstGeom prst="rect">
            <a:avLst/>
          </a:prstGeom>
          <a:solidFill>
            <a:srgbClr val="DED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628900" y="2571750"/>
            <a:ext cx="2435902" cy="104775"/>
          </a:xfrm>
          <a:prstGeom prst="rect">
            <a:avLst/>
          </a:prstGeom>
          <a:solidFill>
            <a:srgbClr val="100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1650" y="2552700"/>
            <a:ext cx="381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00" b="0" spc="0">
                <a:solidFill>
                  <a:srgbClr val="7A7391"/>
                </a:solidFill>
                <a:latin typeface="Menlo"/>
              </a:rPr>
              <a:t>52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700" y="2800350"/>
            <a:ext cx="18669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spc="0">
                <a:solidFill>
                  <a:srgbClr val="100C1C"/>
                </a:solidFill>
                <a:latin typeface="Helvetica Neue"/>
              </a:rPr>
              <a:t>Machine Learning Engineer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28900" y="2819400"/>
            <a:ext cx="2857500" cy="104775"/>
          </a:xfrm>
          <a:prstGeom prst="rect">
            <a:avLst/>
          </a:prstGeom>
          <a:solidFill>
            <a:srgbClr val="DED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28900" y="2819400"/>
            <a:ext cx="2201680" cy="104775"/>
          </a:xfrm>
          <a:prstGeom prst="rect">
            <a:avLst/>
          </a:prstGeom>
          <a:solidFill>
            <a:srgbClr val="100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81650" y="2800350"/>
            <a:ext cx="381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00" b="0" spc="0">
                <a:solidFill>
                  <a:srgbClr val="7A7391"/>
                </a:solidFill>
                <a:latin typeface="Menlo"/>
              </a:rPr>
              <a:t>47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700" y="3048000"/>
            <a:ext cx="18669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spc="0">
                <a:solidFill>
                  <a:srgbClr val="100C1C"/>
                </a:solidFill>
                <a:latin typeface="Helvetica Neue"/>
              </a:rPr>
              <a:t>Data Engineer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28900" y="3067050"/>
            <a:ext cx="2857500" cy="104775"/>
          </a:xfrm>
          <a:prstGeom prst="rect">
            <a:avLst/>
          </a:prstGeom>
          <a:solidFill>
            <a:srgbClr val="DED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628900" y="3067050"/>
            <a:ext cx="2061148" cy="104775"/>
          </a:xfrm>
          <a:prstGeom prst="rect">
            <a:avLst/>
          </a:prstGeom>
          <a:solidFill>
            <a:srgbClr val="100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81650" y="3048000"/>
            <a:ext cx="381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00" b="0" spc="0">
                <a:solidFill>
                  <a:srgbClr val="7A7391"/>
                </a:solidFill>
                <a:latin typeface="Menlo"/>
              </a:rPr>
              <a:t>44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700" y="3295650"/>
            <a:ext cx="18669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spc="0">
                <a:solidFill>
                  <a:srgbClr val="100C1C"/>
                </a:solidFill>
                <a:latin typeface="Helvetica Neue"/>
              </a:rPr>
              <a:t>Analytics Engineer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28900" y="3314700"/>
            <a:ext cx="2857500" cy="104775"/>
          </a:xfrm>
          <a:prstGeom prst="rect">
            <a:avLst/>
          </a:prstGeom>
          <a:solidFill>
            <a:srgbClr val="DED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628900" y="3314700"/>
            <a:ext cx="1780082" cy="104775"/>
          </a:xfrm>
          <a:prstGeom prst="rect">
            <a:avLst/>
          </a:prstGeom>
          <a:solidFill>
            <a:srgbClr val="100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581650" y="3295650"/>
            <a:ext cx="381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00" b="0" spc="0">
                <a:solidFill>
                  <a:srgbClr val="7A7391"/>
                </a:solidFill>
                <a:latin typeface="Menlo"/>
              </a:rPr>
              <a:t>38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700" y="3543300"/>
            <a:ext cx="18669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spc="0">
                <a:solidFill>
                  <a:srgbClr val="100C1C"/>
                </a:solidFill>
                <a:latin typeface="Helvetica Neue"/>
              </a:rPr>
              <a:t>LLM / Prompt App Engineer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28900" y="3562350"/>
            <a:ext cx="2857500" cy="104775"/>
          </a:xfrm>
          <a:prstGeom prst="rect">
            <a:avLst/>
          </a:prstGeom>
          <a:solidFill>
            <a:srgbClr val="DED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628900" y="3562350"/>
            <a:ext cx="1639549" cy="104775"/>
          </a:xfrm>
          <a:prstGeom prst="rect">
            <a:avLst/>
          </a:prstGeom>
          <a:solidFill>
            <a:srgbClr val="603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81650" y="3543300"/>
            <a:ext cx="381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00" b="0" spc="0">
                <a:solidFill>
                  <a:srgbClr val="7A7391"/>
                </a:solidFill>
                <a:latin typeface="Menlo"/>
              </a:rPr>
              <a:t>35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7700" y="3790950"/>
            <a:ext cx="18669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spc="0">
                <a:solidFill>
                  <a:srgbClr val="100C1C"/>
                </a:solidFill>
                <a:latin typeface="Helvetica Neue"/>
              </a:rPr>
              <a:t>AI Product Manager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628900" y="3810000"/>
            <a:ext cx="2857500" cy="104775"/>
          </a:xfrm>
          <a:prstGeom prst="rect">
            <a:avLst/>
          </a:prstGeom>
          <a:solidFill>
            <a:srgbClr val="DED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628900" y="3810000"/>
            <a:ext cx="1545861" cy="104775"/>
          </a:xfrm>
          <a:prstGeom prst="rect">
            <a:avLst/>
          </a:prstGeom>
          <a:solidFill>
            <a:srgbClr val="603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581650" y="3790950"/>
            <a:ext cx="381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00" b="0" spc="0">
                <a:solidFill>
                  <a:srgbClr val="7A7391"/>
                </a:solidFill>
                <a:latin typeface="Menlo"/>
              </a:rPr>
              <a:t>33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7700" y="4038600"/>
            <a:ext cx="18669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spc="0">
                <a:solidFill>
                  <a:srgbClr val="100C1C"/>
                </a:solidFill>
                <a:latin typeface="Helvetica Neue"/>
              </a:rPr>
              <a:t>MLOps Engineer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628900" y="4057650"/>
            <a:ext cx="2857500" cy="104775"/>
          </a:xfrm>
          <a:prstGeom prst="rect">
            <a:avLst/>
          </a:prstGeom>
          <a:solidFill>
            <a:srgbClr val="DED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628900" y="4057650"/>
            <a:ext cx="1358484" cy="104775"/>
          </a:xfrm>
          <a:prstGeom prst="rect">
            <a:avLst/>
          </a:prstGeom>
          <a:solidFill>
            <a:srgbClr val="100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581650" y="4038600"/>
            <a:ext cx="381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00" b="0" spc="0">
                <a:solidFill>
                  <a:srgbClr val="7A7391"/>
                </a:solidFill>
                <a:latin typeface="Menlo"/>
              </a:rPr>
              <a:t>29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7700" y="4286250"/>
            <a:ext cx="18669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spc="0">
                <a:solidFill>
                  <a:srgbClr val="100C1C"/>
                </a:solidFill>
                <a:latin typeface="Helvetica Neue"/>
              </a:rPr>
              <a:t>AI Solutions Architect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628900" y="4305300"/>
            <a:ext cx="2857500" cy="104775"/>
          </a:xfrm>
          <a:prstGeom prst="rect">
            <a:avLst/>
          </a:prstGeom>
          <a:solidFill>
            <a:srgbClr val="DED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628900" y="4305300"/>
            <a:ext cx="1217951" cy="104775"/>
          </a:xfrm>
          <a:prstGeom prst="rect">
            <a:avLst/>
          </a:prstGeom>
          <a:solidFill>
            <a:srgbClr val="603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581650" y="4286250"/>
            <a:ext cx="381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00" b="0" spc="0">
                <a:solidFill>
                  <a:srgbClr val="7A7391"/>
                </a:solidFill>
                <a:latin typeface="Menlo"/>
              </a:rPr>
              <a:t>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7700" y="4533900"/>
            <a:ext cx="18669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spc="0">
                <a:solidFill>
                  <a:srgbClr val="100C1C"/>
                </a:solidFill>
                <a:latin typeface="Helvetica Neue"/>
              </a:rPr>
              <a:t>AI Technical Writer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628900" y="4552950"/>
            <a:ext cx="2857500" cy="104775"/>
          </a:xfrm>
          <a:prstGeom prst="rect">
            <a:avLst/>
          </a:prstGeom>
          <a:solidFill>
            <a:srgbClr val="DED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628900" y="4552950"/>
            <a:ext cx="1124262" cy="104775"/>
          </a:xfrm>
          <a:prstGeom prst="rect">
            <a:avLst/>
          </a:prstGeom>
          <a:solidFill>
            <a:srgbClr val="603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581650" y="4533900"/>
            <a:ext cx="381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00" b="0" spc="0">
                <a:solidFill>
                  <a:srgbClr val="7A7391"/>
                </a:solidFill>
                <a:latin typeface="Menlo"/>
              </a:rPr>
              <a:t>24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7700" y="4781550"/>
            <a:ext cx="18669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spc="0">
                <a:solidFill>
                  <a:srgbClr val="100C1C"/>
                </a:solidFill>
                <a:latin typeface="Helvetica Neue"/>
              </a:rPr>
              <a:t>AI Ethics &amp; Policy Analyst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628900" y="4800600"/>
            <a:ext cx="2857500" cy="104775"/>
          </a:xfrm>
          <a:prstGeom prst="rect">
            <a:avLst/>
          </a:prstGeom>
          <a:solidFill>
            <a:srgbClr val="DED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628900" y="4800600"/>
            <a:ext cx="983730" cy="104775"/>
          </a:xfrm>
          <a:prstGeom prst="rect">
            <a:avLst/>
          </a:prstGeom>
          <a:solidFill>
            <a:srgbClr val="603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581650" y="4781550"/>
            <a:ext cx="381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00" b="0" spc="0">
                <a:solidFill>
                  <a:srgbClr val="7A7391"/>
                </a:solidFill>
                <a:latin typeface="Menlo"/>
              </a:rPr>
              <a:t>21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7700" y="5029200"/>
            <a:ext cx="18669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spc="0">
                <a:solidFill>
                  <a:srgbClr val="100C1C"/>
                </a:solidFill>
                <a:latin typeface="Helvetica Neue"/>
              </a:rPr>
              <a:t>Conversation Designer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628900" y="5048250"/>
            <a:ext cx="2857500" cy="104775"/>
          </a:xfrm>
          <a:prstGeom prst="rect">
            <a:avLst/>
          </a:prstGeom>
          <a:solidFill>
            <a:srgbClr val="DED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628900" y="5048250"/>
            <a:ext cx="843197" cy="104775"/>
          </a:xfrm>
          <a:prstGeom prst="rect">
            <a:avLst/>
          </a:prstGeom>
          <a:solidFill>
            <a:srgbClr val="603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581650" y="5029200"/>
            <a:ext cx="381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00" b="0" spc="0">
                <a:solidFill>
                  <a:srgbClr val="7A7391"/>
                </a:solidFill>
                <a:latin typeface="Menlo"/>
              </a:rPr>
              <a:t>18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667500" y="2305050"/>
            <a:ext cx="28575" cy="704850"/>
          </a:xfrm>
          <a:prstGeom prst="rect">
            <a:avLst/>
          </a:prstGeom>
          <a:solidFill>
            <a:srgbClr val="603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858000" y="230505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spc="-40">
                <a:solidFill>
                  <a:srgbClr val="100C1C"/>
                </a:solidFill>
                <a:latin typeface="Helvetica Neue"/>
              </a:rPr>
              <a:t>Five archetypes are deliberately low-barrier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58000" y="257175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250" b="0" spc="0">
                <a:solidFill>
                  <a:srgbClr val="7A7391"/>
                </a:solidFill>
                <a:latin typeface="Helvetica Neue"/>
              </a:rPr>
              <a:t>Marked in violet. A non-engineer running this gets a real result, not a polite rejection.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667500" y="3333750"/>
            <a:ext cx="28575" cy="914400"/>
          </a:xfrm>
          <a:prstGeom prst="rect">
            <a:avLst/>
          </a:prstGeom>
          <a:solidFill>
            <a:srgbClr val="FF3D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858000" y="333375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spc="-40">
                <a:solidFill>
                  <a:srgbClr val="100C1C"/>
                </a:solidFill>
                <a:latin typeface="Helvetica Neue"/>
              </a:rPr>
              <a:t>Sponsorship signal is language, not law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58000" y="3600450"/>
            <a:ext cx="457200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250" b="0" spc="0">
                <a:solidFill>
                  <a:srgbClr val="7A7391"/>
                </a:solidFill>
                <a:latin typeface="Helvetica Neue"/>
              </a:rPr>
              <a:t>Derived by keyword pass over posting text. It is </a:t>
            </a:r>
            <a:r>
              <a:rPr sz="1250" b="1" spc="0">
                <a:solidFill>
                  <a:srgbClr val="7A7391"/>
                </a:solidFill>
                <a:latin typeface="Helvetica Neue"/>
              </a:rPr>
              <a:t>observed posting language, not legal fact</a:t>
            </a:r>
            <a:r>
              <a:rPr sz="1250" b="0" spc="0">
                <a:solidFill>
                  <a:srgbClr val="7A7391"/>
                </a:solidFill>
                <a:latin typeface="Helvetica Neue"/>
              </a:rPr>
              <a:t>, and the UI says so. Pivot gives no immigration advice.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667500" y="4514850"/>
            <a:ext cx="4572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0" spc="0">
                <a:solidFill>
                  <a:srgbClr val="7A7391"/>
                </a:solidFill>
                <a:latin typeface="Helvetica Neue"/>
              </a:rPr>
              <a:t>Sources: Adzuna · USAJOBS · public Greenhouse and Lever boards. US, 2025.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7700" y="6229350"/>
            <a:ext cx="14287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spc="120">
                <a:solidFill>
                  <a:srgbClr val="7A7391"/>
                </a:solidFill>
                <a:latin typeface="Menlo"/>
              </a:rPr>
              <a:t>THE CORPUS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219325" y="6286500"/>
            <a:ext cx="8582025" cy="19050"/>
          </a:xfrm>
          <a:prstGeom prst="rect">
            <a:avLst/>
          </a:prstGeom>
          <a:solidFill>
            <a:srgbClr val="DED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2219325" y="6286500"/>
            <a:ext cx="4291012" cy="19050"/>
          </a:xfrm>
          <a:prstGeom prst="rect">
            <a:avLst/>
          </a:prstGeom>
          <a:solidFill>
            <a:srgbClr val="603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2171700" y="6248400"/>
            <a:ext cx="95250" cy="95250"/>
          </a:xfrm>
          <a:prstGeom prst="ellipse">
            <a:avLst/>
          </a:prstGeom>
          <a:solidFill>
            <a:srgbClr val="6034FF"/>
          </a:solidFill>
          <a:ln w="19050">
            <a:solidFill>
              <a:srgbClr val="603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2784702" y="6248400"/>
            <a:ext cx="95250" cy="95250"/>
          </a:xfrm>
          <a:prstGeom prst="ellipse">
            <a:avLst/>
          </a:prstGeom>
          <a:solidFill>
            <a:srgbClr val="6034FF"/>
          </a:solidFill>
          <a:ln w="19050">
            <a:solidFill>
              <a:srgbClr val="603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3397704" y="6248400"/>
            <a:ext cx="95250" cy="95250"/>
          </a:xfrm>
          <a:prstGeom prst="ellipse">
            <a:avLst/>
          </a:prstGeom>
          <a:solidFill>
            <a:srgbClr val="6034FF"/>
          </a:solidFill>
          <a:ln w="19050">
            <a:solidFill>
              <a:srgbClr val="603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4010705" y="6248400"/>
            <a:ext cx="95250" cy="95250"/>
          </a:xfrm>
          <a:prstGeom prst="ellipse">
            <a:avLst/>
          </a:prstGeom>
          <a:solidFill>
            <a:srgbClr val="6034FF"/>
          </a:solidFill>
          <a:ln w="19050">
            <a:solidFill>
              <a:srgbClr val="603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4623707" y="6248400"/>
            <a:ext cx="95250" cy="95250"/>
          </a:xfrm>
          <a:prstGeom prst="ellipse">
            <a:avLst/>
          </a:prstGeom>
          <a:solidFill>
            <a:srgbClr val="6034FF"/>
          </a:solidFill>
          <a:ln w="19050">
            <a:solidFill>
              <a:srgbClr val="603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5236709" y="6248400"/>
            <a:ext cx="95250" cy="95250"/>
          </a:xfrm>
          <a:prstGeom prst="ellipse">
            <a:avLst/>
          </a:prstGeom>
          <a:solidFill>
            <a:srgbClr val="6034FF"/>
          </a:solidFill>
          <a:ln w="19050">
            <a:solidFill>
              <a:srgbClr val="603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5849711" y="6248400"/>
            <a:ext cx="95250" cy="95250"/>
          </a:xfrm>
          <a:prstGeom prst="ellipse">
            <a:avLst/>
          </a:prstGeom>
          <a:solidFill>
            <a:srgbClr val="6034FF"/>
          </a:solidFill>
          <a:ln w="19050">
            <a:solidFill>
              <a:srgbClr val="603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6434138" y="6219825"/>
            <a:ext cx="152400" cy="152400"/>
          </a:xfrm>
          <a:prstGeom prst="ellipse">
            <a:avLst/>
          </a:prstGeom>
          <a:solidFill>
            <a:srgbClr val="6034FF"/>
          </a:solidFill>
          <a:ln w="19050">
            <a:solidFill>
              <a:srgbClr val="603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7075714" y="6248400"/>
            <a:ext cx="95250" cy="95250"/>
          </a:xfrm>
          <a:prstGeom prst="ellipse">
            <a:avLst/>
          </a:prstGeom>
          <a:solidFill>
            <a:srgbClr val="F5F2EA"/>
          </a:solidFill>
          <a:ln w="190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7688716" y="6248400"/>
            <a:ext cx="95250" cy="95250"/>
          </a:xfrm>
          <a:prstGeom prst="ellipse">
            <a:avLst/>
          </a:prstGeom>
          <a:solidFill>
            <a:srgbClr val="F5F2EA"/>
          </a:solidFill>
          <a:ln w="190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8301718" y="6248400"/>
            <a:ext cx="95250" cy="95250"/>
          </a:xfrm>
          <a:prstGeom prst="ellipse">
            <a:avLst/>
          </a:prstGeom>
          <a:solidFill>
            <a:srgbClr val="F5F2EA"/>
          </a:solidFill>
          <a:ln w="190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8914720" y="6248400"/>
            <a:ext cx="95250" cy="95250"/>
          </a:xfrm>
          <a:prstGeom prst="ellipse">
            <a:avLst/>
          </a:prstGeom>
          <a:solidFill>
            <a:srgbClr val="F5F2EA"/>
          </a:solidFill>
          <a:ln w="190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9527721" y="6248400"/>
            <a:ext cx="95250" cy="95250"/>
          </a:xfrm>
          <a:prstGeom prst="ellipse">
            <a:avLst/>
          </a:prstGeom>
          <a:solidFill>
            <a:srgbClr val="F5F2EA"/>
          </a:solidFill>
          <a:ln w="190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10140723" y="6248400"/>
            <a:ext cx="95250" cy="95250"/>
          </a:xfrm>
          <a:prstGeom prst="ellipse">
            <a:avLst/>
          </a:prstGeom>
          <a:solidFill>
            <a:srgbClr val="F5F2EA"/>
          </a:solidFill>
          <a:ln w="190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10753725" y="6248400"/>
            <a:ext cx="95250" cy="95250"/>
          </a:xfrm>
          <a:prstGeom prst="ellipse">
            <a:avLst/>
          </a:prstGeom>
          <a:solidFill>
            <a:srgbClr val="F5F2EA"/>
          </a:solidFill>
          <a:ln w="190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0877550" y="6229350"/>
            <a:ext cx="6667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spc="120">
                <a:solidFill>
                  <a:srgbClr val="7A7391"/>
                </a:solidFill>
                <a:latin typeface="Menlo"/>
              </a:rPr>
              <a:t>08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7700" y="647700"/>
            <a:ext cx="8572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spc="140">
                <a:solidFill>
                  <a:srgbClr val="7A7391"/>
                </a:solidFill>
                <a:latin typeface="Menlo"/>
              </a:rPr>
              <a:t>08 — DEFENSIVE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7700" y="895350"/>
            <a:ext cx="108966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300" b="1" spc="-130">
                <a:solidFill>
                  <a:srgbClr val="100C1C"/>
                </a:solidFill>
                <a:latin typeface="Helvetica Neue"/>
              </a:rPr>
              <a:t>The demo cannot fail on stage.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7700" y="1562100"/>
            <a:ext cx="10896600" cy="9525"/>
          </a:xfrm>
          <a:prstGeom prst="rect">
            <a:avLst/>
          </a:prstGeom>
          <a:solidFill>
            <a:srgbClr val="DED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7700" y="1885950"/>
            <a:ext cx="28575" cy="990600"/>
          </a:xfrm>
          <a:prstGeom prst="rect">
            <a:avLst/>
          </a:prstGeom>
          <a:solidFill>
            <a:srgbClr val="603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8200" y="1885950"/>
            <a:ext cx="44767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spc="-50">
                <a:solidFill>
                  <a:srgbClr val="100C1C"/>
                </a:solidFill>
                <a:latin typeface="Helvetica Neue"/>
              </a:rPr>
              <a:t>42 hand-verified fallback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2171700"/>
            <a:ext cx="4476750" cy="704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250" b="0" spc="0">
                <a:solidFill>
                  <a:srgbClr val="7A7391"/>
                </a:solidFill>
                <a:latin typeface="Helvetica Neue"/>
              </a:rPr>
              <a:t>They bypass the Validator and serve silently when live generation fails. Single highest-ROI piece of engineering in the build.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7700" y="3086100"/>
            <a:ext cx="28575" cy="990600"/>
          </a:xfrm>
          <a:prstGeom prst="rect">
            <a:avLst/>
          </a:prstGeom>
          <a:solidFill>
            <a:srgbClr val="603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8200" y="3086100"/>
            <a:ext cx="44767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spc="-50">
                <a:solidFill>
                  <a:srgbClr val="100C1C"/>
                </a:solidFill>
                <a:latin typeface="Helvetica Neue"/>
              </a:rPr>
              <a:t>It works with no API key at all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3371850"/>
            <a:ext cx="4476750" cy="704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250" b="0" spc="0">
                <a:solidFill>
                  <a:srgbClr val="7A7391"/>
                </a:solidFill>
                <a:latin typeface="Helvetica Neue"/>
              </a:rPr>
              <a:t>Every agent has a deterministic fallback path, so the flow always completes end to end. Add ANTHROPIC_API_KEY to light up the live agents.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7700" y="4286250"/>
            <a:ext cx="28575" cy="990600"/>
          </a:xfrm>
          <a:prstGeom prst="rect">
            <a:avLst/>
          </a:prstGeom>
          <a:solidFill>
            <a:srgbClr val="603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8200" y="4286250"/>
            <a:ext cx="44767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spc="-50">
                <a:solidFill>
                  <a:srgbClr val="100C1C"/>
                </a:solidFill>
                <a:latin typeface="Helvetica Neue"/>
              </a:rPr>
              <a:t>A pre-computed demo profile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4572000"/>
            <a:ext cx="4476750" cy="704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250" b="0" spc="0">
                <a:solidFill>
                  <a:srgbClr val="7A7391"/>
                </a:solidFill>
                <a:latin typeface="Helvetica Neue"/>
              </a:rPr>
              <a:t>Priya M. — Senior Financial Analyst, Portland OR, H-1B transfer, 8 hrs/week. Chosen to surface three visible corrections in a single run, with zero live API dependency.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77000" y="2076450"/>
            <a:ext cx="5067300" cy="1771650"/>
          </a:xfrm>
          <a:prstGeom prst="rect">
            <a:avLst/>
          </a:prstGeom>
          <a:solidFill>
            <a:srgbClr val="FFFDF8"/>
          </a:solidFill>
          <a:ln w="9525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67500" y="2247900"/>
            <a:ext cx="4686300" cy="142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100" b="0" spc="0">
                <a:solidFill>
                  <a:srgbClr val="100C1C"/>
                </a:solidFill>
                <a:latin typeface="Menlo"/>
              </a:rPr>
              <a:t>npm install</a:t>
            </a:r>
          </a:p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100" b="0" spc="0">
                <a:solidFill>
                  <a:srgbClr val="100C1C"/>
                </a:solidFill>
                <a:latin typeface="Menlo"/>
              </a:rPr>
              <a:t>npm run dev      # localhost:3000, no key needed</a:t>
            </a:r>
          </a:p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100" b="0" spc="0">
                <a:solidFill>
                  <a:srgbClr val="100C1C"/>
                </a:solidFill>
                <a:latin typeface="Menlo"/>
              </a:rPr>
              <a:t/>
            </a:r>
          </a:p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100" b="0" spc="0">
                <a:solidFill>
                  <a:srgbClr val="100C1C"/>
                </a:solidFill>
                <a:latin typeface="Menlo"/>
              </a:rPr>
              <a:t>npm test         # 64 unit tests</a:t>
            </a:r>
          </a:p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100" b="0" spc="0">
                <a:solidFill>
                  <a:srgbClr val="100C1C"/>
                </a:solidFill>
                <a:latin typeface="Menlo"/>
              </a:rPr>
              <a:t>npm run build    # production build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7000" y="4038600"/>
            <a:ext cx="50673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250" b="0" spc="0">
                <a:solidFill>
                  <a:srgbClr val="7A7391"/>
                </a:solidFill>
                <a:latin typeface="Helvetica Neue"/>
              </a:rPr>
              <a:t>The deterministic engines — matching, ladder, differentiation, calibration — are the ones under test. They're the ones that must never be wrong.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700" y="6229350"/>
            <a:ext cx="14287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spc="120">
                <a:solidFill>
                  <a:srgbClr val="7A7391"/>
                </a:solidFill>
                <a:latin typeface="Menlo"/>
              </a:rPr>
              <a:t>DEMO INSURANCE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19325" y="6286500"/>
            <a:ext cx="8582025" cy="19050"/>
          </a:xfrm>
          <a:prstGeom prst="rect">
            <a:avLst/>
          </a:prstGeom>
          <a:solidFill>
            <a:srgbClr val="DED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19325" y="6286500"/>
            <a:ext cx="4904014" cy="19050"/>
          </a:xfrm>
          <a:prstGeom prst="rect">
            <a:avLst/>
          </a:prstGeom>
          <a:solidFill>
            <a:srgbClr val="603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71700" y="6248400"/>
            <a:ext cx="95250" cy="95250"/>
          </a:xfrm>
          <a:prstGeom prst="ellipse">
            <a:avLst/>
          </a:prstGeom>
          <a:solidFill>
            <a:srgbClr val="6034FF"/>
          </a:solidFill>
          <a:ln w="19050">
            <a:solidFill>
              <a:srgbClr val="603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784702" y="6248400"/>
            <a:ext cx="95250" cy="95250"/>
          </a:xfrm>
          <a:prstGeom prst="ellipse">
            <a:avLst/>
          </a:prstGeom>
          <a:solidFill>
            <a:srgbClr val="6034FF"/>
          </a:solidFill>
          <a:ln w="19050">
            <a:solidFill>
              <a:srgbClr val="603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397704" y="6248400"/>
            <a:ext cx="95250" cy="95250"/>
          </a:xfrm>
          <a:prstGeom prst="ellipse">
            <a:avLst/>
          </a:prstGeom>
          <a:solidFill>
            <a:srgbClr val="6034FF"/>
          </a:solidFill>
          <a:ln w="19050">
            <a:solidFill>
              <a:srgbClr val="603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010705" y="6248400"/>
            <a:ext cx="95250" cy="95250"/>
          </a:xfrm>
          <a:prstGeom prst="ellipse">
            <a:avLst/>
          </a:prstGeom>
          <a:solidFill>
            <a:srgbClr val="6034FF"/>
          </a:solidFill>
          <a:ln w="19050">
            <a:solidFill>
              <a:srgbClr val="603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623707" y="6248400"/>
            <a:ext cx="95250" cy="95250"/>
          </a:xfrm>
          <a:prstGeom prst="ellipse">
            <a:avLst/>
          </a:prstGeom>
          <a:solidFill>
            <a:srgbClr val="6034FF"/>
          </a:solidFill>
          <a:ln w="19050">
            <a:solidFill>
              <a:srgbClr val="603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236709" y="6248400"/>
            <a:ext cx="95250" cy="95250"/>
          </a:xfrm>
          <a:prstGeom prst="ellipse">
            <a:avLst/>
          </a:prstGeom>
          <a:solidFill>
            <a:srgbClr val="6034FF"/>
          </a:solidFill>
          <a:ln w="19050">
            <a:solidFill>
              <a:srgbClr val="603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849711" y="6248400"/>
            <a:ext cx="95250" cy="95250"/>
          </a:xfrm>
          <a:prstGeom prst="ellipse">
            <a:avLst/>
          </a:prstGeom>
          <a:solidFill>
            <a:srgbClr val="6034FF"/>
          </a:solidFill>
          <a:ln w="19050">
            <a:solidFill>
              <a:srgbClr val="603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62712" y="6248400"/>
            <a:ext cx="95250" cy="95250"/>
          </a:xfrm>
          <a:prstGeom prst="ellipse">
            <a:avLst/>
          </a:prstGeom>
          <a:solidFill>
            <a:srgbClr val="6034FF"/>
          </a:solidFill>
          <a:ln w="19050">
            <a:solidFill>
              <a:srgbClr val="603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047139" y="6219825"/>
            <a:ext cx="152400" cy="152400"/>
          </a:xfrm>
          <a:prstGeom prst="ellipse">
            <a:avLst/>
          </a:prstGeom>
          <a:solidFill>
            <a:srgbClr val="6034FF"/>
          </a:solidFill>
          <a:ln w="19050">
            <a:solidFill>
              <a:srgbClr val="603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688716" y="6248400"/>
            <a:ext cx="95250" cy="95250"/>
          </a:xfrm>
          <a:prstGeom prst="ellipse">
            <a:avLst/>
          </a:prstGeom>
          <a:solidFill>
            <a:srgbClr val="F5F2EA"/>
          </a:solidFill>
          <a:ln w="190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301718" y="6248400"/>
            <a:ext cx="95250" cy="95250"/>
          </a:xfrm>
          <a:prstGeom prst="ellipse">
            <a:avLst/>
          </a:prstGeom>
          <a:solidFill>
            <a:srgbClr val="F5F2EA"/>
          </a:solidFill>
          <a:ln w="190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914720" y="6248400"/>
            <a:ext cx="95250" cy="95250"/>
          </a:xfrm>
          <a:prstGeom prst="ellipse">
            <a:avLst/>
          </a:prstGeom>
          <a:solidFill>
            <a:srgbClr val="F5F2EA"/>
          </a:solidFill>
          <a:ln w="190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527721" y="6248400"/>
            <a:ext cx="95250" cy="95250"/>
          </a:xfrm>
          <a:prstGeom prst="ellipse">
            <a:avLst/>
          </a:prstGeom>
          <a:solidFill>
            <a:srgbClr val="F5F2EA"/>
          </a:solidFill>
          <a:ln w="190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40723" y="6248400"/>
            <a:ext cx="95250" cy="95250"/>
          </a:xfrm>
          <a:prstGeom prst="ellipse">
            <a:avLst/>
          </a:prstGeom>
          <a:solidFill>
            <a:srgbClr val="F5F2EA"/>
          </a:solidFill>
          <a:ln w="190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753725" y="6248400"/>
            <a:ext cx="95250" cy="95250"/>
          </a:xfrm>
          <a:prstGeom prst="ellipse">
            <a:avLst/>
          </a:prstGeom>
          <a:solidFill>
            <a:srgbClr val="F5F2EA"/>
          </a:solidFill>
          <a:ln w="190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877550" y="6229350"/>
            <a:ext cx="6667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spc="120">
                <a:solidFill>
                  <a:srgbClr val="7A7391"/>
                </a:solidFill>
                <a:latin typeface="Menlo"/>
              </a:rPr>
              <a:t>09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7700" y="647700"/>
            <a:ext cx="8572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spc="140">
                <a:solidFill>
                  <a:srgbClr val="7A7391"/>
                </a:solidFill>
                <a:latin typeface="Menlo"/>
              </a:rPr>
              <a:t>09 — MEASURED END TO END ON THE DEMO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7700" y="895350"/>
            <a:ext cx="108966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300" b="1" spc="-130">
                <a:solidFill>
                  <a:srgbClr val="100C1C"/>
                </a:solidFill>
                <a:latin typeface="Helvetica Neue"/>
              </a:rPr>
              <a:t>Verified demo-day metrics.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7700" y="1562100"/>
            <a:ext cx="10896600" cy="9525"/>
          </a:xfrm>
          <a:prstGeom prst="rect">
            <a:avLst/>
          </a:prstGeom>
          <a:solidFill>
            <a:srgbClr val="DED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7700" y="1885950"/>
            <a:ext cx="2714625" cy="1238250"/>
          </a:xfrm>
          <a:prstGeom prst="rect">
            <a:avLst/>
          </a:prstGeom>
          <a:solidFill>
            <a:srgbClr val="FFFDF8"/>
          </a:solidFill>
          <a:ln w="9525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9150" y="2038350"/>
            <a:ext cx="237172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00" b="0" spc="120">
                <a:solidFill>
                  <a:srgbClr val="7A7391"/>
                </a:solidFill>
                <a:latin typeface="Menlo"/>
              </a:rPr>
              <a:t>CLAIM-CORRECTION 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9150" y="2438400"/>
            <a:ext cx="2371725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300" b="1" spc="-140">
                <a:solidFill>
                  <a:srgbClr val="FFB020"/>
                </a:solidFill>
                <a:latin typeface="Helvetica Neue"/>
              </a:rPr>
              <a:t>92%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150" y="2857500"/>
            <a:ext cx="23717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spc="50">
                <a:solidFill>
                  <a:srgbClr val="7A7391"/>
                </a:solidFill>
                <a:latin typeface="Menlo"/>
              </a:rPr>
              <a:t>target ≥ 30%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6625" y="1885950"/>
            <a:ext cx="2714625" cy="1238250"/>
          </a:xfrm>
          <a:prstGeom prst="rect">
            <a:avLst/>
          </a:prstGeom>
          <a:solidFill>
            <a:srgbClr val="FFFDF8"/>
          </a:solidFill>
          <a:ln w="9525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48075" y="2038350"/>
            <a:ext cx="237172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00" b="0" spc="120">
                <a:solidFill>
                  <a:srgbClr val="7A7391"/>
                </a:solidFill>
                <a:latin typeface="Menlo"/>
              </a:rPr>
              <a:t>TWO-TRACK SPREAD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48075" y="2438400"/>
            <a:ext cx="2371725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300" b="1" spc="-140">
                <a:solidFill>
                  <a:srgbClr val="FFB020"/>
                </a:solidFill>
                <a:latin typeface="Helvetica Neue"/>
              </a:rPr>
              <a:t>41 pts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48075" y="2857500"/>
            <a:ext cx="23717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spc="50">
                <a:solidFill>
                  <a:srgbClr val="7A7391"/>
                </a:solidFill>
                <a:latin typeface="Menlo"/>
              </a:rPr>
              <a:t>target ≥ 25 pts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5550" y="1885950"/>
            <a:ext cx="2714625" cy="1238250"/>
          </a:xfrm>
          <a:prstGeom prst="rect">
            <a:avLst/>
          </a:prstGeom>
          <a:solidFill>
            <a:srgbClr val="FFFDF8"/>
          </a:solidFill>
          <a:ln w="9525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7000" y="2038350"/>
            <a:ext cx="237172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00" b="0" spc="120">
                <a:solidFill>
                  <a:srgbClr val="7A7391"/>
                </a:solidFill>
                <a:latin typeface="Menlo"/>
              </a:rPr>
              <a:t>SPRINT VS DEEP TIMELINE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7000" y="2438400"/>
            <a:ext cx="2371725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300" b="1" spc="-140">
                <a:solidFill>
                  <a:srgbClr val="FFB020"/>
                </a:solidFill>
                <a:latin typeface="Helvetica Neue"/>
              </a:rPr>
              <a:t>4.3×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7000" y="2857500"/>
            <a:ext cx="23717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spc="50">
                <a:solidFill>
                  <a:srgbClr val="7A7391"/>
                </a:solidFill>
                <a:latin typeface="Menlo"/>
              </a:rPr>
              <a:t>target ≥ 2×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34475" y="1885950"/>
            <a:ext cx="2714625" cy="1238250"/>
          </a:xfrm>
          <a:prstGeom prst="rect">
            <a:avLst/>
          </a:prstGeom>
          <a:solidFill>
            <a:srgbClr val="FFFDF8"/>
          </a:solidFill>
          <a:ln w="9525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05925" y="2038350"/>
            <a:ext cx="237172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00" b="0" spc="120">
                <a:solidFill>
                  <a:srgbClr val="7A7391"/>
                </a:solidFill>
                <a:latin typeface="Menlo"/>
              </a:rPr>
              <a:t>PATHWAY RESOURCE OVERLAP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05925" y="2438400"/>
            <a:ext cx="2371725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300" b="1" spc="-140">
                <a:solidFill>
                  <a:srgbClr val="FFB020"/>
                </a:solidFill>
                <a:latin typeface="Helvetica Neue"/>
              </a:rPr>
              <a:t>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05925" y="2857500"/>
            <a:ext cx="23717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spc="50">
                <a:solidFill>
                  <a:srgbClr val="7A7391"/>
                </a:solidFill>
                <a:latin typeface="Menlo"/>
              </a:rPr>
              <a:t>target &lt; 40%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7700" y="3238500"/>
            <a:ext cx="2714625" cy="1238250"/>
          </a:xfrm>
          <a:prstGeom prst="rect">
            <a:avLst/>
          </a:prstGeom>
          <a:solidFill>
            <a:srgbClr val="FFFDF8"/>
          </a:solidFill>
          <a:ln w="9525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9150" y="3390900"/>
            <a:ext cx="237172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00" b="0" spc="120">
                <a:solidFill>
                  <a:srgbClr val="7A7391"/>
                </a:solidFill>
                <a:latin typeface="Menlo"/>
              </a:rPr>
              <a:t>NAMED RESOURCES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9150" y="3790950"/>
            <a:ext cx="2371725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300" b="1" spc="-140">
                <a:solidFill>
                  <a:srgbClr val="FFB020"/>
                </a:solidFill>
                <a:latin typeface="Helvetica Neue"/>
              </a:rPr>
              <a:t>11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9150" y="4210050"/>
            <a:ext cx="23717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spc="50">
                <a:solidFill>
                  <a:srgbClr val="7A7391"/>
                </a:solidFill>
                <a:latin typeface="Menlo"/>
              </a:rPr>
              <a:t>target ≥ 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76625" y="3238500"/>
            <a:ext cx="2714625" cy="1238250"/>
          </a:xfrm>
          <a:prstGeom prst="rect">
            <a:avLst/>
          </a:prstGeom>
          <a:solidFill>
            <a:srgbClr val="FFFDF8"/>
          </a:solidFill>
          <a:ln w="9525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48075" y="3390900"/>
            <a:ext cx="237172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00" b="0" spc="120">
                <a:solidFill>
                  <a:srgbClr val="7A7391"/>
                </a:solidFill>
                <a:latin typeface="Menlo"/>
              </a:rPr>
              <a:t>PORTFOLIO ARTIFACTS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48075" y="3790950"/>
            <a:ext cx="2371725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300" b="1" spc="-140">
                <a:solidFill>
                  <a:srgbClr val="FFB020"/>
                </a:solidFill>
                <a:latin typeface="Helvetica Neue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48075" y="4210050"/>
            <a:ext cx="23717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spc="50">
                <a:solidFill>
                  <a:srgbClr val="7A7391"/>
                </a:solidFill>
                <a:latin typeface="Menlo"/>
              </a:rPr>
              <a:t>target ≥ 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5550" y="3238500"/>
            <a:ext cx="2714625" cy="1238250"/>
          </a:xfrm>
          <a:prstGeom prst="rect">
            <a:avLst/>
          </a:prstGeom>
          <a:solidFill>
            <a:srgbClr val="FFFDF8"/>
          </a:solidFill>
          <a:ln w="9525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77000" y="3390900"/>
            <a:ext cx="237172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00" b="0" spc="120">
                <a:solidFill>
                  <a:srgbClr val="7A7391"/>
                </a:solidFill>
                <a:latin typeface="Menlo"/>
              </a:rPr>
              <a:t>MATCH LATENCY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77000" y="3790950"/>
            <a:ext cx="2371725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300" b="1" spc="-140">
                <a:solidFill>
                  <a:srgbClr val="FFB020"/>
                </a:solidFill>
                <a:latin typeface="Helvetica Neue"/>
              </a:rPr>
              <a:t>1ms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77000" y="4210050"/>
            <a:ext cx="23717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spc="50">
                <a:solidFill>
                  <a:srgbClr val="7A7391"/>
                </a:solidFill>
                <a:latin typeface="Menlo"/>
              </a:rPr>
              <a:t>target &lt; 100ms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34475" y="3238500"/>
            <a:ext cx="2714625" cy="1238250"/>
          </a:xfrm>
          <a:prstGeom prst="rect">
            <a:avLst/>
          </a:prstGeom>
          <a:solidFill>
            <a:srgbClr val="FFFDF8"/>
          </a:solidFill>
          <a:ln w="9525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05925" y="3390900"/>
            <a:ext cx="237172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00" b="0" spc="120">
                <a:solidFill>
                  <a:srgbClr val="7A7391"/>
                </a:solidFill>
                <a:latin typeface="Menlo"/>
              </a:rPr>
              <a:t>CORPUS GROUNDING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05925" y="3790950"/>
            <a:ext cx="2371725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300" b="1" spc="-140">
                <a:solidFill>
                  <a:srgbClr val="FFB020"/>
                </a:solidFill>
                <a:latin typeface="Helvetica Neue"/>
              </a:rPr>
              <a:t>428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05925" y="4210050"/>
            <a:ext cx="23717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spc="50">
                <a:solidFill>
                  <a:srgbClr val="7A7391"/>
                </a:solidFill>
                <a:latin typeface="Menlo"/>
              </a:rPr>
              <a:t>postings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7700" y="4743450"/>
            <a:ext cx="10477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300" b="0" spc="0">
                <a:solidFill>
                  <a:srgbClr val="7A7391"/>
                </a:solidFill>
                <a:latin typeface="Helvetica Neue"/>
              </a:rPr>
              <a:t>The demo profile also </a:t>
            </a:r>
            <a:r>
              <a:rPr sz="1300" b="1" spc="0">
                <a:solidFill>
                  <a:srgbClr val="7A7391"/>
                </a:solidFill>
                <a:latin typeface="Helvetica Neue"/>
              </a:rPr>
              <a:t>demotes a real role</a:t>
            </a:r>
            <a:r>
              <a:rPr sz="1300" b="0" spc="0">
                <a:solidFill>
                  <a:srgbClr val="7A7391"/>
                </a:solidFill>
                <a:latin typeface="Helvetica Neue"/>
              </a:rPr>
              <a:t>: AI Ethics &amp; Policy Analyst reaches zero availability for a Portland-based user needing sponsorship. Demoted, never hidden — the user sees why it fell.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7700" y="6229350"/>
            <a:ext cx="14287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spc="120">
                <a:solidFill>
                  <a:srgbClr val="7A7391"/>
                </a:solidFill>
                <a:latin typeface="Menlo"/>
              </a:rPr>
              <a:t>VERIFIED METRICS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219325" y="6286500"/>
            <a:ext cx="8582025" cy="19050"/>
          </a:xfrm>
          <a:prstGeom prst="rect">
            <a:avLst/>
          </a:prstGeom>
          <a:solidFill>
            <a:srgbClr val="DED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219325" y="6286500"/>
            <a:ext cx="5517016" cy="19050"/>
          </a:xfrm>
          <a:prstGeom prst="rect">
            <a:avLst/>
          </a:prstGeom>
          <a:solidFill>
            <a:srgbClr val="603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2171700" y="6248400"/>
            <a:ext cx="95250" cy="95250"/>
          </a:xfrm>
          <a:prstGeom prst="ellipse">
            <a:avLst/>
          </a:prstGeom>
          <a:solidFill>
            <a:srgbClr val="6034FF"/>
          </a:solidFill>
          <a:ln w="19050">
            <a:solidFill>
              <a:srgbClr val="603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2784702" y="6248400"/>
            <a:ext cx="95250" cy="95250"/>
          </a:xfrm>
          <a:prstGeom prst="ellipse">
            <a:avLst/>
          </a:prstGeom>
          <a:solidFill>
            <a:srgbClr val="6034FF"/>
          </a:solidFill>
          <a:ln w="19050">
            <a:solidFill>
              <a:srgbClr val="603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397704" y="6248400"/>
            <a:ext cx="95250" cy="95250"/>
          </a:xfrm>
          <a:prstGeom prst="ellipse">
            <a:avLst/>
          </a:prstGeom>
          <a:solidFill>
            <a:srgbClr val="6034FF"/>
          </a:solidFill>
          <a:ln w="19050">
            <a:solidFill>
              <a:srgbClr val="603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010705" y="6248400"/>
            <a:ext cx="95250" cy="95250"/>
          </a:xfrm>
          <a:prstGeom prst="ellipse">
            <a:avLst/>
          </a:prstGeom>
          <a:solidFill>
            <a:srgbClr val="6034FF"/>
          </a:solidFill>
          <a:ln w="19050">
            <a:solidFill>
              <a:srgbClr val="603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623707" y="6248400"/>
            <a:ext cx="95250" cy="95250"/>
          </a:xfrm>
          <a:prstGeom prst="ellipse">
            <a:avLst/>
          </a:prstGeom>
          <a:solidFill>
            <a:srgbClr val="6034FF"/>
          </a:solidFill>
          <a:ln w="19050">
            <a:solidFill>
              <a:srgbClr val="603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5236709" y="6248400"/>
            <a:ext cx="95250" cy="95250"/>
          </a:xfrm>
          <a:prstGeom prst="ellipse">
            <a:avLst/>
          </a:prstGeom>
          <a:solidFill>
            <a:srgbClr val="6034FF"/>
          </a:solidFill>
          <a:ln w="19050">
            <a:solidFill>
              <a:srgbClr val="603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5849711" y="6248400"/>
            <a:ext cx="95250" cy="95250"/>
          </a:xfrm>
          <a:prstGeom prst="ellipse">
            <a:avLst/>
          </a:prstGeom>
          <a:solidFill>
            <a:srgbClr val="6034FF"/>
          </a:solidFill>
          <a:ln w="19050">
            <a:solidFill>
              <a:srgbClr val="603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462712" y="6248400"/>
            <a:ext cx="95250" cy="95250"/>
          </a:xfrm>
          <a:prstGeom prst="ellipse">
            <a:avLst/>
          </a:prstGeom>
          <a:solidFill>
            <a:srgbClr val="6034FF"/>
          </a:solidFill>
          <a:ln w="19050">
            <a:solidFill>
              <a:srgbClr val="603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7075714" y="6248400"/>
            <a:ext cx="95250" cy="95250"/>
          </a:xfrm>
          <a:prstGeom prst="ellipse">
            <a:avLst/>
          </a:prstGeom>
          <a:solidFill>
            <a:srgbClr val="6034FF"/>
          </a:solidFill>
          <a:ln w="19050">
            <a:solidFill>
              <a:srgbClr val="603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7660141" y="6219825"/>
            <a:ext cx="152400" cy="152400"/>
          </a:xfrm>
          <a:prstGeom prst="ellipse">
            <a:avLst/>
          </a:prstGeom>
          <a:solidFill>
            <a:srgbClr val="6034FF"/>
          </a:solidFill>
          <a:ln w="19050">
            <a:solidFill>
              <a:srgbClr val="603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8301718" y="6248400"/>
            <a:ext cx="95250" cy="95250"/>
          </a:xfrm>
          <a:prstGeom prst="ellipse">
            <a:avLst/>
          </a:prstGeom>
          <a:solidFill>
            <a:srgbClr val="F5F2EA"/>
          </a:solidFill>
          <a:ln w="190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8914720" y="6248400"/>
            <a:ext cx="95250" cy="95250"/>
          </a:xfrm>
          <a:prstGeom prst="ellipse">
            <a:avLst/>
          </a:prstGeom>
          <a:solidFill>
            <a:srgbClr val="F5F2EA"/>
          </a:solidFill>
          <a:ln w="190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9527721" y="6248400"/>
            <a:ext cx="95250" cy="95250"/>
          </a:xfrm>
          <a:prstGeom prst="ellipse">
            <a:avLst/>
          </a:prstGeom>
          <a:solidFill>
            <a:srgbClr val="F5F2EA"/>
          </a:solidFill>
          <a:ln w="190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0140723" y="6248400"/>
            <a:ext cx="95250" cy="95250"/>
          </a:xfrm>
          <a:prstGeom prst="ellipse">
            <a:avLst/>
          </a:prstGeom>
          <a:solidFill>
            <a:srgbClr val="F5F2EA"/>
          </a:solidFill>
          <a:ln w="190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0753725" y="6248400"/>
            <a:ext cx="95250" cy="95250"/>
          </a:xfrm>
          <a:prstGeom prst="ellipse">
            <a:avLst/>
          </a:prstGeom>
          <a:solidFill>
            <a:srgbClr val="F5F2EA"/>
          </a:solidFill>
          <a:ln w="190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877550" y="6229350"/>
            <a:ext cx="6667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spc="120">
                <a:solidFill>
                  <a:srgbClr val="7A7391"/>
                </a:solidFill>
                <a:latin typeface="Menlo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7700" y="647700"/>
            <a:ext cx="8572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spc="140">
                <a:solidFill>
                  <a:srgbClr val="7A7391"/>
                </a:solidFill>
                <a:latin typeface="Menlo"/>
              </a:rPr>
              <a:t>10 — THE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7700" y="895350"/>
            <a:ext cx="108966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300" b="1" spc="-130">
                <a:solidFill>
                  <a:srgbClr val="100C1C"/>
                </a:solidFill>
                <a:latin typeface="Helvetica Neue"/>
              </a:rPr>
              <a:t>Three rules that hold on every screen.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7700" y="1562100"/>
            <a:ext cx="10896600" cy="9525"/>
          </a:xfrm>
          <a:prstGeom prst="rect">
            <a:avLst/>
          </a:prstGeom>
          <a:solidFill>
            <a:srgbClr val="DED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7700" y="1885950"/>
            <a:ext cx="247650" cy="247650"/>
          </a:xfrm>
          <a:prstGeom prst="ellipse">
            <a:avLst/>
          </a:prstGeom>
          <a:noFill/>
          <a:ln w="31750">
            <a:solidFill>
              <a:srgbClr val="FFB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28662" y="1966912"/>
            <a:ext cx="85725" cy="85725"/>
          </a:xfrm>
          <a:prstGeom prst="ellipse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7700" y="2305050"/>
            <a:ext cx="3429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900" b="1" spc="-80">
                <a:solidFill>
                  <a:srgbClr val="100C1C"/>
                </a:solidFill>
                <a:latin typeface="Helvetica Neue"/>
              </a:rPr>
              <a:t>Gold means earned.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700" y="2705100"/>
            <a:ext cx="3429000" cy="990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250" b="0" spc="0">
                <a:solidFill>
                  <a:srgbClr val="7A7391"/>
                </a:solidFill>
                <a:latin typeface="Helvetica Neue"/>
              </a:rPr>
              <a:t>Nothing else is ever gold — not headings, not borders, not decoration. The first gold a user sees is their first correct answer.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700" y="3771900"/>
            <a:ext cx="3429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100" b="0" spc="0">
                <a:solidFill>
                  <a:srgbClr val="7A7391"/>
                </a:solidFill>
                <a:latin typeface="Helvetica Neue"/>
              </a:rPr>
              <a:t>This deck obeys the same rule. Every gold mark on it is a verified number.</a:t>
            </a:r>
          </a:p>
        </p:txBody>
      </p:sp>
      <p:sp>
        <p:nvSpPr>
          <p:cNvPr id="10" name="Oval 9"/>
          <p:cNvSpPr/>
          <p:nvPr/>
        </p:nvSpPr>
        <p:spPr>
          <a:xfrm>
            <a:off x="4381500" y="1885950"/>
            <a:ext cx="247650" cy="247650"/>
          </a:xfrm>
          <a:prstGeom prst="ellipse">
            <a:avLst/>
          </a:prstGeom>
          <a:noFill/>
          <a:ln w="31750">
            <a:solidFill>
              <a:srgbClr val="603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462462" y="1966912"/>
            <a:ext cx="85725" cy="85725"/>
          </a:xfrm>
          <a:prstGeom prst="ellipse">
            <a:avLst/>
          </a:prstGeom>
          <a:solidFill>
            <a:srgbClr val="603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1500" y="2305050"/>
            <a:ext cx="3429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900" b="1" spc="-80">
                <a:solidFill>
                  <a:srgbClr val="100C1C"/>
                </a:solidFill>
                <a:latin typeface="Helvetica Neue"/>
              </a:rPr>
              <a:t>One circle, one 45° line.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1500" y="2705100"/>
            <a:ext cx="3429000" cy="990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250" b="0" spc="0">
                <a:solidFill>
                  <a:srgbClr val="7A7391"/>
                </a:solidFill>
                <a:latin typeface="Helvetica Neue"/>
              </a:rPr>
              <a:t>The entire icon vocabulary. Logo, icons, hero graphic and network map are all built from those two shapes. No icon library ships in the bundle.</a:t>
            </a:r>
          </a:p>
        </p:txBody>
      </p:sp>
      <p:sp>
        <p:nvSpPr>
          <p:cNvPr id="14" name="Oval 13"/>
          <p:cNvSpPr/>
          <p:nvPr/>
        </p:nvSpPr>
        <p:spPr>
          <a:xfrm>
            <a:off x="8115300" y="1885950"/>
            <a:ext cx="247650" cy="247650"/>
          </a:xfrm>
          <a:prstGeom prst="ellipse">
            <a:avLst/>
          </a:prstGeom>
          <a:noFill/>
          <a:ln w="31750">
            <a:solidFill>
              <a:srgbClr val="603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196262" y="1966912"/>
            <a:ext cx="85725" cy="85725"/>
          </a:xfrm>
          <a:prstGeom prst="ellipse">
            <a:avLst/>
          </a:prstGeom>
          <a:solidFill>
            <a:srgbClr val="603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15300" y="2305050"/>
            <a:ext cx="3429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900" b="1" spc="-80">
                <a:solidFill>
                  <a:srgbClr val="100C1C"/>
                </a:solidFill>
                <a:latin typeface="Helvetica Neue"/>
              </a:rPr>
              <a:t>No deficit framing.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5300" y="2705100"/>
            <a:ext cx="3429000" cy="990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250" b="0" spc="0">
                <a:solidFill>
                  <a:srgbClr val="7A7391"/>
                </a:solidFill>
                <a:latin typeface="Helvetica Neue"/>
              </a:rPr>
              <a:t>Skills fill upward toward what the job requires. A dashed segment is the next thing to earn, never a loss. The word "gap" never appears on screen.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7700" y="4324350"/>
            <a:ext cx="10896600" cy="9525"/>
          </a:xfrm>
          <a:prstGeom prst="rect">
            <a:avLst/>
          </a:prstGeom>
          <a:solidFill>
            <a:srgbClr val="DED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700" y="4514850"/>
            <a:ext cx="10668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300" b="0" spc="0">
                <a:solidFill>
                  <a:srgbClr val="7A7391"/>
                </a:solidFill>
                <a:latin typeface="Helvetica Neue"/>
              </a:rPr>
              <a:t>There is deliberately </a:t>
            </a:r>
            <a:r>
              <a:rPr sz="1300" b="1" spc="0">
                <a:solidFill>
                  <a:srgbClr val="7A7391"/>
                </a:solidFill>
                <a:latin typeface="Helvetica Neue"/>
              </a:rPr>
              <a:t>no claimed-vs-verified chart</a:t>
            </a:r>
            <a:r>
              <a:rPr sz="1300" b="0" spc="0">
                <a:solidFill>
                  <a:srgbClr val="7A7391"/>
                </a:solidFill>
                <a:latin typeface="Helvetica Neue"/>
              </a:rPr>
              <a:t>. A chart showing </a:t>
            </a:r>
            <a:r>
              <a:rPr sz="1200" b="0" spc="0">
                <a:solidFill>
                  <a:srgbClr val="7A7391"/>
                </a:solidFill>
                <a:latin typeface="Menlo"/>
              </a:rPr>
              <a:t>claimed 4 → verified 2</a:t>
            </a:r>
            <a:r>
              <a:rPr sz="1300" b="0" spc="0">
                <a:solidFill>
                  <a:srgbClr val="7A7391"/>
                </a:solidFill>
                <a:latin typeface="Helvetica Neue"/>
              </a:rPr>
              <a:t> renders the user's self-image falling. The same verified numbers fill upward against the role's requirement instead, and the correction rate survives as one sentence behind "How we scored this."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700" y="6229350"/>
            <a:ext cx="14287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spc="120">
                <a:solidFill>
                  <a:srgbClr val="7A7391"/>
                </a:solidFill>
                <a:latin typeface="Menlo"/>
              </a:rPr>
              <a:t>INTERFACE RULES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19325" y="6286500"/>
            <a:ext cx="8582025" cy="19050"/>
          </a:xfrm>
          <a:prstGeom prst="rect">
            <a:avLst/>
          </a:prstGeom>
          <a:solidFill>
            <a:srgbClr val="DED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219325" y="6286500"/>
            <a:ext cx="6130018" cy="19050"/>
          </a:xfrm>
          <a:prstGeom prst="rect">
            <a:avLst/>
          </a:prstGeom>
          <a:solidFill>
            <a:srgbClr val="603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171700" y="6248400"/>
            <a:ext cx="95250" cy="95250"/>
          </a:xfrm>
          <a:prstGeom prst="ellipse">
            <a:avLst/>
          </a:prstGeom>
          <a:solidFill>
            <a:srgbClr val="6034FF"/>
          </a:solidFill>
          <a:ln w="19050">
            <a:solidFill>
              <a:srgbClr val="603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784702" y="6248400"/>
            <a:ext cx="95250" cy="95250"/>
          </a:xfrm>
          <a:prstGeom prst="ellipse">
            <a:avLst/>
          </a:prstGeom>
          <a:solidFill>
            <a:srgbClr val="6034FF"/>
          </a:solidFill>
          <a:ln w="19050">
            <a:solidFill>
              <a:srgbClr val="603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397704" y="6248400"/>
            <a:ext cx="95250" cy="95250"/>
          </a:xfrm>
          <a:prstGeom prst="ellipse">
            <a:avLst/>
          </a:prstGeom>
          <a:solidFill>
            <a:srgbClr val="6034FF"/>
          </a:solidFill>
          <a:ln w="19050">
            <a:solidFill>
              <a:srgbClr val="603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010705" y="6248400"/>
            <a:ext cx="95250" cy="95250"/>
          </a:xfrm>
          <a:prstGeom prst="ellipse">
            <a:avLst/>
          </a:prstGeom>
          <a:solidFill>
            <a:srgbClr val="6034FF"/>
          </a:solidFill>
          <a:ln w="19050">
            <a:solidFill>
              <a:srgbClr val="603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623707" y="6248400"/>
            <a:ext cx="95250" cy="95250"/>
          </a:xfrm>
          <a:prstGeom prst="ellipse">
            <a:avLst/>
          </a:prstGeom>
          <a:solidFill>
            <a:srgbClr val="6034FF"/>
          </a:solidFill>
          <a:ln w="19050">
            <a:solidFill>
              <a:srgbClr val="603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236709" y="6248400"/>
            <a:ext cx="95250" cy="95250"/>
          </a:xfrm>
          <a:prstGeom prst="ellipse">
            <a:avLst/>
          </a:prstGeom>
          <a:solidFill>
            <a:srgbClr val="6034FF"/>
          </a:solidFill>
          <a:ln w="19050">
            <a:solidFill>
              <a:srgbClr val="603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849711" y="6248400"/>
            <a:ext cx="95250" cy="95250"/>
          </a:xfrm>
          <a:prstGeom prst="ellipse">
            <a:avLst/>
          </a:prstGeom>
          <a:solidFill>
            <a:srgbClr val="6034FF"/>
          </a:solidFill>
          <a:ln w="19050">
            <a:solidFill>
              <a:srgbClr val="603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62712" y="6248400"/>
            <a:ext cx="95250" cy="95250"/>
          </a:xfrm>
          <a:prstGeom prst="ellipse">
            <a:avLst/>
          </a:prstGeom>
          <a:solidFill>
            <a:srgbClr val="6034FF"/>
          </a:solidFill>
          <a:ln w="19050">
            <a:solidFill>
              <a:srgbClr val="603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075714" y="6248400"/>
            <a:ext cx="95250" cy="95250"/>
          </a:xfrm>
          <a:prstGeom prst="ellipse">
            <a:avLst/>
          </a:prstGeom>
          <a:solidFill>
            <a:srgbClr val="6034FF"/>
          </a:solidFill>
          <a:ln w="19050">
            <a:solidFill>
              <a:srgbClr val="603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688716" y="6248400"/>
            <a:ext cx="95250" cy="95250"/>
          </a:xfrm>
          <a:prstGeom prst="ellipse">
            <a:avLst/>
          </a:prstGeom>
          <a:solidFill>
            <a:srgbClr val="6034FF"/>
          </a:solidFill>
          <a:ln w="19050">
            <a:solidFill>
              <a:srgbClr val="603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273143" y="6219825"/>
            <a:ext cx="152400" cy="152400"/>
          </a:xfrm>
          <a:prstGeom prst="ellipse">
            <a:avLst/>
          </a:prstGeom>
          <a:solidFill>
            <a:srgbClr val="6034FF"/>
          </a:solidFill>
          <a:ln w="19050">
            <a:solidFill>
              <a:srgbClr val="603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914720" y="6248400"/>
            <a:ext cx="95250" cy="95250"/>
          </a:xfrm>
          <a:prstGeom prst="ellipse">
            <a:avLst/>
          </a:prstGeom>
          <a:solidFill>
            <a:srgbClr val="F5F2EA"/>
          </a:solidFill>
          <a:ln w="190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527721" y="6248400"/>
            <a:ext cx="95250" cy="95250"/>
          </a:xfrm>
          <a:prstGeom prst="ellipse">
            <a:avLst/>
          </a:prstGeom>
          <a:solidFill>
            <a:srgbClr val="F5F2EA"/>
          </a:solidFill>
          <a:ln w="190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140723" y="6248400"/>
            <a:ext cx="95250" cy="95250"/>
          </a:xfrm>
          <a:prstGeom prst="ellipse">
            <a:avLst/>
          </a:prstGeom>
          <a:solidFill>
            <a:srgbClr val="F5F2EA"/>
          </a:solidFill>
          <a:ln w="190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753725" y="6248400"/>
            <a:ext cx="95250" cy="95250"/>
          </a:xfrm>
          <a:prstGeom prst="ellipse">
            <a:avLst/>
          </a:prstGeom>
          <a:solidFill>
            <a:srgbClr val="F5F2EA"/>
          </a:solidFill>
          <a:ln w="190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877550" y="6229350"/>
            <a:ext cx="6667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spc="120">
                <a:solidFill>
                  <a:srgbClr val="7A7391"/>
                </a:solidFill>
                <a:latin typeface="Menlo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7700" y="647700"/>
            <a:ext cx="8572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spc="140">
                <a:solidFill>
                  <a:srgbClr val="7A7391"/>
                </a:solidFill>
                <a:latin typeface="Menlo"/>
              </a:rPr>
              <a:t>11 — THE RESULTS PAGE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7700" y="895350"/>
            <a:ext cx="108966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300" b="1" spc="-130">
                <a:solidFill>
                  <a:srgbClr val="100C1C"/>
                </a:solidFill>
                <a:latin typeface="Helvetica Neue"/>
              </a:rPr>
              <a:t>The recommendation is geometry.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7700" y="1562100"/>
            <a:ext cx="10896600" cy="9525"/>
          </a:xfrm>
          <a:prstGeom prst="rect">
            <a:avLst/>
          </a:prstGeom>
          <a:solidFill>
            <a:srgbClr val="DED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V="1">
            <a:off x="1417320" y="2449068"/>
            <a:ext cx="1275588" cy="1275588"/>
          </a:xfrm>
          <a:prstGeom prst="line">
            <a:avLst/>
          </a:prstGeom>
          <a:ln w="63500">
            <a:solidFill>
              <a:srgbClr val="FF3D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692908" y="2449068"/>
            <a:ext cx="4511802" cy="0"/>
          </a:xfrm>
          <a:prstGeom prst="line">
            <a:avLst/>
          </a:prstGeom>
          <a:ln w="63500">
            <a:solidFill>
              <a:srgbClr val="FF3D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417320" y="3724656"/>
            <a:ext cx="6259830" cy="0"/>
          </a:xfrm>
          <a:prstGeom prst="line">
            <a:avLst/>
          </a:prstGeom>
          <a:ln w="63500">
            <a:solidFill>
              <a:srgbClr val="603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677150" y="3724656"/>
            <a:ext cx="1039368" cy="0"/>
          </a:xfrm>
          <a:prstGeom prst="line">
            <a:avLst/>
          </a:prstGeom>
          <a:ln w="63500">
            <a:solidFill>
              <a:srgbClr val="6034FF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417320" y="3724656"/>
            <a:ext cx="1133856" cy="1133856"/>
          </a:xfrm>
          <a:prstGeom prst="line">
            <a:avLst/>
          </a:prstGeom>
          <a:ln w="63500">
            <a:solidFill>
              <a:srgbClr val="00C2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551176" y="4858512"/>
            <a:ext cx="4181094" cy="0"/>
          </a:xfrm>
          <a:prstGeom prst="line">
            <a:avLst/>
          </a:prstGeom>
          <a:ln w="63500">
            <a:solidFill>
              <a:srgbClr val="00C2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1303020" y="3610356"/>
            <a:ext cx="228600" cy="228600"/>
          </a:xfrm>
          <a:prstGeom prst="ellipse">
            <a:avLst/>
          </a:prstGeom>
          <a:solidFill>
            <a:srgbClr val="F5F2EA"/>
          </a:solidFill>
          <a:ln w="38100">
            <a:solidFill>
              <a:srgbClr val="100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74458" y="3681794"/>
            <a:ext cx="85725" cy="85725"/>
          </a:xfrm>
          <a:prstGeom prst="ellipse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0570" y="3972306"/>
            <a:ext cx="13335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0" spc="130">
                <a:solidFill>
                  <a:srgbClr val="7A7391"/>
                </a:solidFill>
                <a:latin typeface="Menlo"/>
              </a:rPr>
              <a:t>YOU · VERIFIED</a:t>
            </a:r>
          </a:p>
        </p:txBody>
      </p:sp>
      <p:sp>
        <p:nvSpPr>
          <p:cNvPr id="14" name="Oval 13"/>
          <p:cNvSpPr/>
          <p:nvPr/>
        </p:nvSpPr>
        <p:spPr>
          <a:xfrm>
            <a:off x="3396234" y="2372868"/>
            <a:ext cx="152400" cy="152400"/>
          </a:xfrm>
          <a:prstGeom prst="ellipse">
            <a:avLst/>
          </a:prstGeom>
          <a:solidFill>
            <a:srgbClr val="F5F2EA"/>
          </a:solidFill>
          <a:ln w="38100">
            <a:solidFill>
              <a:srgbClr val="FF3D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837176" y="2372868"/>
            <a:ext cx="152400" cy="152400"/>
          </a:xfrm>
          <a:prstGeom prst="ellipse">
            <a:avLst/>
          </a:prstGeom>
          <a:solidFill>
            <a:srgbClr val="F5F2EA"/>
          </a:solidFill>
          <a:ln w="38100">
            <a:solidFill>
              <a:srgbClr val="FF3D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099935" y="2344293"/>
            <a:ext cx="209550" cy="209550"/>
          </a:xfrm>
          <a:prstGeom prst="rect">
            <a:avLst/>
          </a:prstGeom>
          <a:solidFill>
            <a:srgbClr val="FF3D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96159" y="2201418"/>
            <a:ext cx="13525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00" b="1" spc="-30">
                <a:solidFill>
                  <a:srgbClr val="100C1C"/>
                </a:solidFill>
                <a:latin typeface="Helvetica Neue"/>
              </a:rPr>
              <a:t>SQL depth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37101" y="2201418"/>
            <a:ext cx="13525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00" b="1" spc="-30">
                <a:solidFill>
                  <a:srgbClr val="100C1C"/>
                </a:solidFill>
                <a:latin typeface="Helvetica Neue"/>
              </a:rPr>
              <a:t>Portfolio build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40930" y="2258568"/>
            <a:ext cx="2286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 spc="-50">
                <a:solidFill>
                  <a:srgbClr val="100C1C"/>
                </a:solidFill>
                <a:latin typeface="Helvetica Neue"/>
              </a:rPr>
              <a:t>Analytics Engineer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40930" y="2458593"/>
            <a:ext cx="22860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spc="120">
                <a:solidFill>
                  <a:srgbClr val="7A7391"/>
                </a:solidFill>
                <a:latin typeface="Menlo"/>
              </a:rPr>
              <a:t>SPRINT · 3 MONTHS</a:t>
            </a:r>
          </a:p>
        </p:txBody>
      </p:sp>
      <p:sp>
        <p:nvSpPr>
          <p:cNvPr id="21" name="Oval 20"/>
          <p:cNvSpPr/>
          <p:nvPr/>
        </p:nvSpPr>
        <p:spPr>
          <a:xfrm>
            <a:off x="2994660" y="3648456"/>
            <a:ext cx="152400" cy="152400"/>
          </a:xfrm>
          <a:prstGeom prst="ellipse">
            <a:avLst/>
          </a:prstGeom>
          <a:solidFill>
            <a:srgbClr val="F5F2EA"/>
          </a:solidFill>
          <a:ln w="38100">
            <a:solidFill>
              <a:srgbClr val="603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648200" y="3648456"/>
            <a:ext cx="152400" cy="152400"/>
          </a:xfrm>
          <a:prstGeom prst="ellipse">
            <a:avLst/>
          </a:prstGeom>
          <a:solidFill>
            <a:srgbClr val="F5F2EA"/>
          </a:solidFill>
          <a:ln w="38100">
            <a:solidFill>
              <a:srgbClr val="603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1740" y="3648456"/>
            <a:ext cx="152400" cy="152400"/>
          </a:xfrm>
          <a:prstGeom prst="ellipse">
            <a:avLst/>
          </a:prstGeom>
          <a:solidFill>
            <a:srgbClr val="F5F2EA"/>
          </a:solidFill>
          <a:ln w="38100">
            <a:solidFill>
              <a:srgbClr val="603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572375" y="3619881"/>
            <a:ext cx="209550" cy="209550"/>
          </a:xfrm>
          <a:prstGeom prst="rect">
            <a:avLst/>
          </a:prstGeom>
          <a:solidFill>
            <a:srgbClr val="603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394585" y="3477006"/>
            <a:ext cx="13525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00" b="1" spc="-30">
                <a:solidFill>
                  <a:srgbClr val="100C1C"/>
                </a:solidFill>
                <a:latin typeface="Helvetica Neue"/>
              </a:rPr>
              <a:t>Python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48125" y="3477006"/>
            <a:ext cx="13525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00" b="1" spc="-30">
                <a:solidFill>
                  <a:srgbClr val="100C1C"/>
                </a:solidFill>
                <a:latin typeface="Helvetica Neue"/>
              </a:rPr>
              <a:t>ML foundations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01665" y="3477006"/>
            <a:ext cx="13525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00" b="1" spc="-30">
                <a:solidFill>
                  <a:srgbClr val="100C1C"/>
                </a:solidFill>
                <a:latin typeface="Helvetica Neue"/>
              </a:rPr>
              <a:t>Deployment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19900" y="3953256"/>
            <a:ext cx="1714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50" b="1" spc="-30">
                <a:solidFill>
                  <a:srgbClr val="100C1C"/>
                </a:solidFill>
                <a:latin typeface="Helvetica Neue"/>
              </a:rPr>
              <a:t>Data Scientist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19900" y="4143756"/>
            <a:ext cx="1714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50" b="0" spc="120">
                <a:solidFill>
                  <a:srgbClr val="7A7391"/>
                </a:solidFill>
                <a:latin typeface="Menlo"/>
              </a:rPr>
              <a:t>DEEP · 13 MONTHS</a:t>
            </a:r>
          </a:p>
        </p:txBody>
      </p:sp>
      <p:sp>
        <p:nvSpPr>
          <p:cNvPr id="30" name="Oval 29"/>
          <p:cNvSpPr/>
          <p:nvPr/>
        </p:nvSpPr>
        <p:spPr>
          <a:xfrm>
            <a:off x="8611743" y="3619881"/>
            <a:ext cx="209550" cy="209550"/>
          </a:xfrm>
          <a:prstGeom prst="ellipse">
            <a:avLst/>
          </a:prstGeom>
          <a:solidFill>
            <a:srgbClr val="F5F2EA"/>
          </a:solidFill>
          <a:ln w="31750">
            <a:solidFill>
              <a:srgbClr val="6034F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11643" y="3419856"/>
            <a:ext cx="18097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 spc="-30">
                <a:solidFill>
                  <a:srgbClr val="6034FF"/>
                </a:solidFill>
                <a:latin typeface="Helvetica Neue"/>
              </a:rPr>
              <a:t>MLOps Engineer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11643" y="3248406"/>
            <a:ext cx="18097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50" b="0" spc="120">
                <a:solidFill>
                  <a:srgbClr val="7A7391"/>
                </a:solidFill>
                <a:latin typeface="Menlo"/>
              </a:rPr>
              <a:t>ONWARD</a:t>
            </a:r>
          </a:p>
        </p:txBody>
      </p:sp>
      <p:sp>
        <p:nvSpPr>
          <p:cNvPr id="33" name="Oval 32"/>
          <p:cNvSpPr/>
          <p:nvPr/>
        </p:nvSpPr>
        <p:spPr>
          <a:xfrm>
            <a:off x="3348990" y="4782312"/>
            <a:ext cx="152400" cy="152400"/>
          </a:xfrm>
          <a:prstGeom prst="ellipse">
            <a:avLst/>
          </a:prstGeom>
          <a:solidFill>
            <a:srgbClr val="F5F2EA"/>
          </a:solidFill>
          <a:ln w="38100">
            <a:solidFill>
              <a:srgbClr val="00C2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719066" y="4782312"/>
            <a:ext cx="152400" cy="152400"/>
          </a:xfrm>
          <a:prstGeom prst="ellipse">
            <a:avLst/>
          </a:prstGeom>
          <a:solidFill>
            <a:srgbClr val="F5F2EA"/>
          </a:solidFill>
          <a:ln w="38100">
            <a:solidFill>
              <a:srgbClr val="00C2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627495" y="4753737"/>
            <a:ext cx="209550" cy="209550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48915" y="5029962"/>
            <a:ext cx="13525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00" b="1" spc="-30">
                <a:solidFill>
                  <a:srgbClr val="100C1C"/>
                </a:solidFill>
                <a:latin typeface="Helvetica Neue"/>
              </a:rPr>
              <a:t>Domain framing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8991" y="5029962"/>
            <a:ext cx="13525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00" b="1" spc="-30">
                <a:solidFill>
                  <a:srgbClr val="100C1C"/>
                </a:solidFill>
                <a:latin typeface="Helvetica Neue"/>
              </a:rPr>
              <a:t>Stakeholder case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68490" y="4668012"/>
            <a:ext cx="23812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 spc="-50">
                <a:solidFill>
                  <a:srgbClr val="100C1C"/>
                </a:solidFill>
                <a:latin typeface="Helvetica Neue"/>
              </a:rPr>
              <a:t>AI Product Manager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68490" y="4868037"/>
            <a:ext cx="23812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spc="120">
                <a:solidFill>
                  <a:srgbClr val="7A7391"/>
                </a:solidFill>
                <a:latin typeface="Menlo"/>
              </a:rPr>
              <a:t>LATERAL · 5 MONTHS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7700" y="5600700"/>
            <a:ext cx="107632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250" b="0" spc="0">
                <a:solidFill>
                  <a:srgbClr val="7A7391"/>
                </a:solidFill>
                <a:latin typeface="Helvetica Neue"/>
              </a:rPr>
              <a:t>Routes are pathways, terminals are roles, and the aspirational role the user named renders as an </a:t>
            </a:r>
            <a:r>
              <a:rPr sz="1250" b="1" spc="0">
                <a:solidFill>
                  <a:srgbClr val="7A7391"/>
                </a:solidFill>
                <a:latin typeface="Helvetica Neue"/>
              </a:rPr>
              <a:t>onward station</a:t>
            </a:r>
            <a:r>
              <a:rPr sz="1250" b="0" spc="0">
                <a:solidFill>
                  <a:srgbClr val="7A7391"/>
                </a:solidFill>
                <a:latin typeface="Helvetica Neue"/>
              </a:rPr>
              <a:t> on a dashed extension of the same line. The bridge recommendation becomes geometry — you can see that the route exists, and that it runs through somewhere you're already close to.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7700" y="6229350"/>
            <a:ext cx="14287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spc="120">
                <a:solidFill>
                  <a:srgbClr val="7A7391"/>
                </a:solidFill>
                <a:latin typeface="Menlo"/>
              </a:rPr>
              <a:t>THE RESULTS MAP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219325" y="6286500"/>
            <a:ext cx="8582025" cy="19050"/>
          </a:xfrm>
          <a:prstGeom prst="rect">
            <a:avLst/>
          </a:prstGeom>
          <a:solidFill>
            <a:srgbClr val="DED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219325" y="6286500"/>
            <a:ext cx="6743020" cy="19050"/>
          </a:xfrm>
          <a:prstGeom prst="rect">
            <a:avLst/>
          </a:prstGeom>
          <a:solidFill>
            <a:srgbClr val="603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2171700" y="6248400"/>
            <a:ext cx="95250" cy="95250"/>
          </a:xfrm>
          <a:prstGeom prst="ellipse">
            <a:avLst/>
          </a:prstGeom>
          <a:solidFill>
            <a:srgbClr val="6034FF"/>
          </a:solidFill>
          <a:ln w="19050">
            <a:solidFill>
              <a:srgbClr val="603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2784702" y="6248400"/>
            <a:ext cx="95250" cy="95250"/>
          </a:xfrm>
          <a:prstGeom prst="ellipse">
            <a:avLst/>
          </a:prstGeom>
          <a:solidFill>
            <a:srgbClr val="6034FF"/>
          </a:solidFill>
          <a:ln w="19050">
            <a:solidFill>
              <a:srgbClr val="603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3397704" y="6248400"/>
            <a:ext cx="95250" cy="95250"/>
          </a:xfrm>
          <a:prstGeom prst="ellipse">
            <a:avLst/>
          </a:prstGeom>
          <a:solidFill>
            <a:srgbClr val="6034FF"/>
          </a:solidFill>
          <a:ln w="19050">
            <a:solidFill>
              <a:srgbClr val="603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4010705" y="6248400"/>
            <a:ext cx="95250" cy="95250"/>
          </a:xfrm>
          <a:prstGeom prst="ellipse">
            <a:avLst/>
          </a:prstGeom>
          <a:solidFill>
            <a:srgbClr val="6034FF"/>
          </a:solidFill>
          <a:ln w="19050">
            <a:solidFill>
              <a:srgbClr val="603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4623707" y="6248400"/>
            <a:ext cx="95250" cy="95250"/>
          </a:xfrm>
          <a:prstGeom prst="ellipse">
            <a:avLst/>
          </a:prstGeom>
          <a:solidFill>
            <a:srgbClr val="6034FF"/>
          </a:solidFill>
          <a:ln w="19050">
            <a:solidFill>
              <a:srgbClr val="603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236709" y="6248400"/>
            <a:ext cx="95250" cy="95250"/>
          </a:xfrm>
          <a:prstGeom prst="ellipse">
            <a:avLst/>
          </a:prstGeom>
          <a:solidFill>
            <a:srgbClr val="6034FF"/>
          </a:solidFill>
          <a:ln w="19050">
            <a:solidFill>
              <a:srgbClr val="603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5849711" y="6248400"/>
            <a:ext cx="95250" cy="95250"/>
          </a:xfrm>
          <a:prstGeom prst="ellipse">
            <a:avLst/>
          </a:prstGeom>
          <a:solidFill>
            <a:srgbClr val="6034FF"/>
          </a:solidFill>
          <a:ln w="19050">
            <a:solidFill>
              <a:srgbClr val="603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462712" y="6248400"/>
            <a:ext cx="95250" cy="95250"/>
          </a:xfrm>
          <a:prstGeom prst="ellipse">
            <a:avLst/>
          </a:prstGeom>
          <a:solidFill>
            <a:srgbClr val="6034FF"/>
          </a:solidFill>
          <a:ln w="19050">
            <a:solidFill>
              <a:srgbClr val="603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7075714" y="6248400"/>
            <a:ext cx="95250" cy="95250"/>
          </a:xfrm>
          <a:prstGeom prst="ellipse">
            <a:avLst/>
          </a:prstGeom>
          <a:solidFill>
            <a:srgbClr val="6034FF"/>
          </a:solidFill>
          <a:ln w="19050">
            <a:solidFill>
              <a:srgbClr val="603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688716" y="6248400"/>
            <a:ext cx="95250" cy="95250"/>
          </a:xfrm>
          <a:prstGeom prst="ellipse">
            <a:avLst/>
          </a:prstGeom>
          <a:solidFill>
            <a:srgbClr val="6034FF"/>
          </a:solidFill>
          <a:ln w="19050">
            <a:solidFill>
              <a:srgbClr val="603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8301718" y="6248400"/>
            <a:ext cx="95250" cy="95250"/>
          </a:xfrm>
          <a:prstGeom prst="ellipse">
            <a:avLst/>
          </a:prstGeom>
          <a:solidFill>
            <a:srgbClr val="6034FF"/>
          </a:solidFill>
          <a:ln w="19050">
            <a:solidFill>
              <a:srgbClr val="603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8886145" y="6219825"/>
            <a:ext cx="152400" cy="152400"/>
          </a:xfrm>
          <a:prstGeom prst="ellipse">
            <a:avLst/>
          </a:prstGeom>
          <a:solidFill>
            <a:srgbClr val="6034FF"/>
          </a:solidFill>
          <a:ln w="19050">
            <a:solidFill>
              <a:srgbClr val="603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9527721" y="6248400"/>
            <a:ext cx="95250" cy="95250"/>
          </a:xfrm>
          <a:prstGeom prst="ellipse">
            <a:avLst/>
          </a:prstGeom>
          <a:solidFill>
            <a:srgbClr val="F5F2EA"/>
          </a:solidFill>
          <a:ln w="190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0140723" y="6248400"/>
            <a:ext cx="95250" cy="95250"/>
          </a:xfrm>
          <a:prstGeom prst="ellipse">
            <a:avLst/>
          </a:prstGeom>
          <a:solidFill>
            <a:srgbClr val="F5F2EA"/>
          </a:solidFill>
          <a:ln w="190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0753725" y="6248400"/>
            <a:ext cx="95250" cy="95250"/>
          </a:xfrm>
          <a:prstGeom prst="ellipse">
            <a:avLst/>
          </a:prstGeom>
          <a:solidFill>
            <a:srgbClr val="F5F2EA"/>
          </a:solidFill>
          <a:ln w="190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877550" y="6229350"/>
            <a:ext cx="6667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spc="120">
                <a:solidFill>
                  <a:srgbClr val="7A7391"/>
                </a:solidFill>
                <a:latin typeface="Menlo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7700" y="647700"/>
            <a:ext cx="8572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spc="140">
                <a:solidFill>
                  <a:srgbClr val="7A7391"/>
                </a:solidFill>
                <a:latin typeface="Menlo"/>
              </a:rPr>
              <a:t>12 — DELIBERATE DEVIATIONS FROM THE PRD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7700" y="895350"/>
            <a:ext cx="108966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300" b="1" spc="-130">
                <a:solidFill>
                  <a:srgbClr val="100C1C"/>
                </a:solidFill>
                <a:latin typeface="Helvetica Neue"/>
              </a:rPr>
              <a:t>Four places we knowingly departed from spec.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7700" y="1562100"/>
            <a:ext cx="10896600" cy="9525"/>
          </a:xfrm>
          <a:prstGeom prst="rect">
            <a:avLst/>
          </a:prstGeom>
          <a:solidFill>
            <a:srgbClr val="DED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7700" y="1771650"/>
            <a:ext cx="10896600" cy="9525"/>
          </a:xfrm>
          <a:prstGeom prst="rect">
            <a:avLst/>
          </a:prstGeom>
          <a:solidFill>
            <a:srgbClr val="DED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7700" y="1914525"/>
            <a:ext cx="4191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spc="100">
                <a:solidFill>
                  <a:srgbClr val="7A7391"/>
                </a:solidFill>
                <a:latin typeface="Menlo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1100" y="1885950"/>
            <a:ext cx="952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spc="-50">
                <a:solidFill>
                  <a:srgbClr val="100C1C"/>
                </a:solidFill>
                <a:latin typeface="Helvetica Neue"/>
              </a:rPr>
              <a:t>Parsing is JavaScript, not 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1100" y="2114550"/>
            <a:ext cx="97155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50" b="0" spc="0">
                <a:solidFill>
                  <a:srgbClr val="7A7391"/>
                </a:solidFill>
                <a:latin typeface="Helvetica Neue"/>
              </a:rPr>
              <a:t>The PRD names pdfplumber / python-docx; we use unpdf / mammoth to keep the single Next.js deployable the PRD also specifies. A Python sidecar would break the Vercel deploy story.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7700" y="2705100"/>
            <a:ext cx="10896600" cy="9525"/>
          </a:xfrm>
          <a:prstGeom prst="rect">
            <a:avLst/>
          </a:prstGeom>
          <a:solidFill>
            <a:srgbClr val="DED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700" y="2867025"/>
            <a:ext cx="4191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spc="100">
                <a:solidFill>
                  <a:srgbClr val="7A7391"/>
                </a:solidFill>
                <a:latin typeface="Menlo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1100" y="2838450"/>
            <a:ext cx="952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spc="-50">
                <a:solidFill>
                  <a:srgbClr val="100C1C"/>
                </a:solidFill>
                <a:latin typeface="Helvetica Neue"/>
              </a:rPr>
              <a:t>No temperature parameter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1100" y="3067050"/>
            <a:ext cx="97155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50" b="0" spc="0">
                <a:solidFill>
                  <a:srgbClr val="7A7391"/>
                </a:solidFill>
                <a:latin typeface="Helvetica Neue"/>
              </a:rPr>
              <a:t>§7.3 calls for 0.7 for generation and 0.0 for extraction. Claude Opus 5 rejects sampling parameters with a 400, so generation variety is steered by prompting and output_config.effort instead.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7700" y="3657600"/>
            <a:ext cx="10896600" cy="9525"/>
          </a:xfrm>
          <a:prstGeom prst="rect">
            <a:avLst/>
          </a:prstGeom>
          <a:solidFill>
            <a:srgbClr val="DED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700" y="3819525"/>
            <a:ext cx="4191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spc="100">
                <a:solidFill>
                  <a:srgbClr val="7A7391"/>
                </a:solidFill>
                <a:latin typeface="Menlo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1100" y="3790950"/>
            <a:ext cx="952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spc="-50">
                <a:solidFill>
                  <a:srgbClr val="100C1C"/>
                </a:solidFill>
                <a:latin typeface="Helvetica Neue"/>
              </a:rPr>
              <a:t>Question counts reconciled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1100" y="4019550"/>
            <a:ext cx="97155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50" b="0" spc="0">
                <a:solidFill>
                  <a:srgbClr val="7A7391"/>
                </a:solidFill>
                <a:latin typeface="Helvetica Neue"/>
              </a:rPr>
              <a:t>§5 says 12 served, P0-6 says 15, §7.3 implies 21 generated. We generate 21 (7 skills × 3 tiers), validate, and serve 12 adaptively.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7700" y="4610100"/>
            <a:ext cx="10896600" cy="9525"/>
          </a:xfrm>
          <a:prstGeom prst="rect">
            <a:avLst/>
          </a:prstGeom>
          <a:solidFill>
            <a:srgbClr val="DED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700" y="4772025"/>
            <a:ext cx="4191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spc="100">
                <a:solidFill>
                  <a:srgbClr val="7A7391"/>
                </a:solidFill>
                <a:latin typeface="Menlo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1100" y="4743450"/>
            <a:ext cx="952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spc="-50">
                <a:solidFill>
                  <a:srgbClr val="100C1C"/>
                </a:solidFill>
                <a:latin typeface="Helvetica Neue"/>
              </a:rPr>
              <a:t>Ladder extended, not replaced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1100" y="4972050"/>
            <a:ext cx="97155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50" b="0" spc="0">
                <a:solidFill>
                  <a:srgbClr val="7A7391"/>
                </a:solidFill>
                <a:latin typeface="Helvetica Neue"/>
              </a:rPr>
              <a:t>§7.4's pseudocode yields 7 questions for 7 skills. The global difficulty ladder is implemented exactly as written; a deterministic scheduler allocates the remaining 5 slots to the highest-risk skills.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7700" y="5562600"/>
            <a:ext cx="10896600" cy="9525"/>
          </a:xfrm>
          <a:prstGeom prst="rect">
            <a:avLst/>
          </a:prstGeom>
          <a:solidFill>
            <a:srgbClr val="DED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700" y="6229350"/>
            <a:ext cx="14287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spc="120">
                <a:solidFill>
                  <a:srgbClr val="7A7391"/>
                </a:solidFill>
                <a:latin typeface="Menlo"/>
              </a:rPr>
              <a:t>DEVIATIONS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19325" y="6286500"/>
            <a:ext cx="8582025" cy="19050"/>
          </a:xfrm>
          <a:prstGeom prst="rect">
            <a:avLst/>
          </a:prstGeom>
          <a:solidFill>
            <a:srgbClr val="DED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219325" y="6286500"/>
            <a:ext cx="7356021" cy="19050"/>
          </a:xfrm>
          <a:prstGeom prst="rect">
            <a:avLst/>
          </a:prstGeom>
          <a:solidFill>
            <a:srgbClr val="603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171700" y="6248400"/>
            <a:ext cx="95250" cy="95250"/>
          </a:xfrm>
          <a:prstGeom prst="ellipse">
            <a:avLst/>
          </a:prstGeom>
          <a:solidFill>
            <a:srgbClr val="6034FF"/>
          </a:solidFill>
          <a:ln w="19050">
            <a:solidFill>
              <a:srgbClr val="603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784702" y="6248400"/>
            <a:ext cx="95250" cy="95250"/>
          </a:xfrm>
          <a:prstGeom prst="ellipse">
            <a:avLst/>
          </a:prstGeom>
          <a:solidFill>
            <a:srgbClr val="6034FF"/>
          </a:solidFill>
          <a:ln w="19050">
            <a:solidFill>
              <a:srgbClr val="603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397704" y="6248400"/>
            <a:ext cx="95250" cy="95250"/>
          </a:xfrm>
          <a:prstGeom prst="ellipse">
            <a:avLst/>
          </a:prstGeom>
          <a:solidFill>
            <a:srgbClr val="6034FF"/>
          </a:solidFill>
          <a:ln w="19050">
            <a:solidFill>
              <a:srgbClr val="603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010705" y="6248400"/>
            <a:ext cx="95250" cy="95250"/>
          </a:xfrm>
          <a:prstGeom prst="ellipse">
            <a:avLst/>
          </a:prstGeom>
          <a:solidFill>
            <a:srgbClr val="6034FF"/>
          </a:solidFill>
          <a:ln w="19050">
            <a:solidFill>
              <a:srgbClr val="603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623707" y="6248400"/>
            <a:ext cx="95250" cy="95250"/>
          </a:xfrm>
          <a:prstGeom prst="ellipse">
            <a:avLst/>
          </a:prstGeom>
          <a:solidFill>
            <a:srgbClr val="6034FF"/>
          </a:solidFill>
          <a:ln w="19050">
            <a:solidFill>
              <a:srgbClr val="603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236709" y="6248400"/>
            <a:ext cx="95250" cy="95250"/>
          </a:xfrm>
          <a:prstGeom prst="ellipse">
            <a:avLst/>
          </a:prstGeom>
          <a:solidFill>
            <a:srgbClr val="6034FF"/>
          </a:solidFill>
          <a:ln w="19050">
            <a:solidFill>
              <a:srgbClr val="603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849711" y="6248400"/>
            <a:ext cx="95250" cy="95250"/>
          </a:xfrm>
          <a:prstGeom prst="ellipse">
            <a:avLst/>
          </a:prstGeom>
          <a:solidFill>
            <a:srgbClr val="6034FF"/>
          </a:solidFill>
          <a:ln w="19050">
            <a:solidFill>
              <a:srgbClr val="603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462712" y="6248400"/>
            <a:ext cx="95250" cy="95250"/>
          </a:xfrm>
          <a:prstGeom prst="ellipse">
            <a:avLst/>
          </a:prstGeom>
          <a:solidFill>
            <a:srgbClr val="6034FF"/>
          </a:solidFill>
          <a:ln w="19050">
            <a:solidFill>
              <a:srgbClr val="603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075714" y="6248400"/>
            <a:ext cx="95250" cy="95250"/>
          </a:xfrm>
          <a:prstGeom prst="ellipse">
            <a:avLst/>
          </a:prstGeom>
          <a:solidFill>
            <a:srgbClr val="6034FF"/>
          </a:solidFill>
          <a:ln w="19050">
            <a:solidFill>
              <a:srgbClr val="603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688716" y="6248400"/>
            <a:ext cx="95250" cy="95250"/>
          </a:xfrm>
          <a:prstGeom prst="ellipse">
            <a:avLst/>
          </a:prstGeom>
          <a:solidFill>
            <a:srgbClr val="6034FF"/>
          </a:solidFill>
          <a:ln w="19050">
            <a:solidFill>
              <a:srgbClr val="603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301718" y="6248400"/>
            <a:ext cx="95250" cy="95250"/>
          </a:xfrm>
          <a:prstGeom prst="ellipse">
            <a:avLst/>
          </a:prstGeom>
          <a:solidFill>
            <a:srgbClr val="6034FF"/>
          </a:solidFill>
          <a:ln w="19050">
            <a:solidFill>
              <a:srgbClr val="603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914720" y="6248400"/>
            <a:ext cx="95250" cy="95250"/>
          </a:xfrm>
          <a:prstGeom prst="ellipse">
            <a:avLst/>
          </a:prstGeom>
          <a:solidFill>
            <a:srgbClr val="6034FF"/>
          </a:solidFill>
          <a:ln w="19050">
            <a:solidFill>
              <a:srgbClr val="603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499146" y="6219825"/>
            <a:ext cx="152400" cy="152400"/>
          </a:xfrm>
          <a:prstGeom prst="ellipse">
            <a:avLst/>
          </a:prstGeom>
          <a:solidFill>
            <a:srgbClr val="6034FF"/>
          </a:solidFill>
          <a:ln w="19050">
            <a:solidFill>
              <a:srgbClr val="603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140723" y="6248400"/>
            <a:ext cx="95250" cy="95250"/>
          </a:xfrm>
          <a:prstGeom prst="ellipse">
            <a:avLst/>
          </a:prstGeom>
          <a:solidFill>
            <a:srgbClr val="F5F2EA"/>
          </a:solidFill>
          <a:ln w="190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753725" y="6248400"/>
            <a:ext cx="95250" cy="95250"/>
          </a:xfrm>
          <a:prstGeom prst="ellipse">
            <a:avLst/>
          </a:prstGeom>
          <a:solidFill>
            <a:srgbClr val="F5F2EA"/>
          </a:solidFill>
          <a:ln w="190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877550" y="6229350"/>
            <a:ext cx="6667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spc="120">
                <a:solidFill>
                  <a:srgbClr val="7A7391"/>
                </a:solidFill>
                <a:latin typeface="Menlo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7700" y="647700"/>
            <a:ext cx="8572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spc="140">
                <a:solidFill>
                  <a:srgbClr val="7A7391"/>
                </a:solidFill>
                <a:latin typeface="Menlo"/>
              </a:rPr>
              <a:t>13 — NOT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7700" y="895350"/>
            <a:ext cx="108966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300" b="1" spc="-130">
                <a:solidFill>
                  <a:srgbClr val="100C1C"/>
                </a:solidFill>
                <a:latin typeface="Helvetica Neue"/>
              </a:rPr>
              <a:t>What a v1 would need, honestly.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7700" y="1562100"/>
            <a:ext cx="10896600" cy="9525"/>
          </a:xfrm>
          <a:prstGeom prst="rect">
            <a:avLst/>
          </a:prstGeom>
          <a:solidFill>
            <a:srgbClr val="DED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7700" y="1885950"/>
            <a:ext cx="49530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 spc="-40">
                <a:solidFill>
                  <a:srgbClr val="100C1C"/>
                </a:solidFill>
                <a:latin typeface="Helvetica Neue"/>
              </a:rPr>
              <a:t>Persistent learner profile and 90-day re-assessment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7700" y="2305050"/>
            <a:ext cx="4953000" cy="9525"/>
          </a:xfrm>
          <a:prstGeom prst="rect">
            <a:avLst/>
          </a:prstGeom>
          <a:solidFill>
            <a:srgbClr val="DED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7700" y="2476500"/>
            <a:ext cx="49530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 spc="-40">
                <a:solidFill>
                  <a:srgbClr val="100C1C"/>
                </a:solidFill>
                <a:latin typeface="Helvetica Neue"/>
              </a:rPr>
              <a:t>True agent orchestration with dynamic tool selection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47700" y="2895600"/>
            <a:ext cx="4953000" cy="9525"/>
          </a:xfrm>
          <a:prstGeom prst="rect">
            <a:avLst/>
          </a:prstGeom>
          <a:solidFill>
            <a:srgbClr val="DED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700" y="3067050"/>
            <a:ext cx="49530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 spc="-40">
                <a:solidFill>
                  <a:srgbClr val="100C1C"/>
                </a:solidFill>
                <a:latin typeface="Helvetica Neue"/>
              </a:rPr>
              <a:t>Live job scraping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7700" y="3486150"/>
            <a:ext cx="4953000" cy="9525"/>
          </a:xfrm>
          <a:prstGeom prst="rect">
            <a:avLst/>
          </a:prstGeom>
          <a:solidFill>
            <a:srgbClr val="DED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53200" y="1885950"/>
            <a:ext cx="49530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 spc="-40">
                <a:solidFill>
                  <a:srgbClr val="100C1C"/>
                </a:solidFill>
                <a:latin typeface="Helvetica Neue"/>
              </a:rPr>
              <a:t>Free-text and code-based assessment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53200" y="2305050"/>
            <a:ext cx="4953000" cy="9525"/>
          </a:xfrm>
          <a:prstGeom prst="rect">
            <a:avLst/>
          </a:prstGeom>
          <a:solidFill>
            <a:srgbClr val="DED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3200" y="2476500"/>
            <a:ext cx="49530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 spc="-40">
                <a:solidFill>
                  <a:srgbClr val="100C1C"/>
                </a:solidFill>
                <a:latin typeface="Helvetica Neue"/>
              </a:rPr>
              <a:t>IRT / Bayesian ability estimation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53200" y="2895600"/>
            <a:ext cx="4953000" cy="9525"/>
          </a:xfrm>
          <a:prstGeom prst="rect">
            <a:avLst/>
          </a:prstGeom>
          <a:solidFill>
            <a:srgbClr val="DED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53200" y="3067050"/>
            <a:ext cx="49530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 spc="-40">
                <a:solidFill>
                  <a:srgbClr val="100C1C"/>
                </a:solidFill>
                <a:latin typeface="Helvetica Neue"/>
              </a:rPr>
              <a:t>Employer-side verified-candidate sourcing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53200" y="3486150"/>
            <a:ext cx="4953000" cy="9525"/>
          </a:xfrm>
          <a:prstGeom prst="rect">
            <a:avLst/>
          </a:prstGeom>
          <a:solidFill>
            <a:srgbClr val="DED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7700" y="40957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300" b="0" spc="0">
                <a:solidFill>
                  <a:srgbClr val="7A7391"/>
                </a:solidFill>
                <a:latin typeface="Helvetica Neue"/>
              </a:rPr>
              <a:t>The last one is the business. Once a skill vector is verified rather than asserted, it is worth something to the other side of the market too.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700" y="6229350"/>
            <a:ext cx="14287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spc="120">
                <a:solidFill>
                  <a:srgbClr val="7A7391"/>
                </a:solidFill>
                <a:latin typeface="Menlo"/>
              </a:rPr>
              <a:t>NOT BUILT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19325" y="6286500"/>
            <a:ext cx="8582025" cy="19050"/>
          </a:xfrm>
          <a:prstGeom prst="rect">
            <a:avLst/>
          </a:prstGeom>
          <a:solidFill>
            <a:srgbClr val="DED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219325" y="6286500"/>
            <a:ext cx="7969023" cy="19050"/>
          </a:xfrm>
          <a:prstGeom prst="rect">
            <a:avLst/>
          </a:prstGeom>
          <a:solidFill>
            <a:srgbClr val="603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171700" y="6248400"/>
            <a:ext cx="95250" cy="95250"/>
          </a:xfrm>
          <a:prstGeom prst="ellipse">
            <a:avLst/>
          </a:prstGeom>
          <a:solidFill>
            <a:srgbClr val="6034FF"/>
          </a:solidFill>
          <a:ln w="19050">
            <a:solidFill>
              <a:srgbClr val="603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784702" y="6248400"/>
            <a:ext cx="95250" cy="95250"/>
          </a:xfrm>
          <a:prstGeom prst="ellipse">
            <a:avLst/>
          </a:prstGeom>
          <a:solidFill>
            <a:srgbClr val="6034FF"/>
          </a:solidFill>
          <a:ln w="19050">
            <a:solidFill>
              <a:srgbClr val="603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397704" y="6248400"/>
            <a:ext cx="95250" cy="95250"/>
          </a:xfrm>
          <a:prstGeom prst="ellipse">
            <a:avLst/>
          </a:prstGeom>
          <a:solidFill>
            <a:srgbClr val="6034FF"/>
          </a:solidFill>
          <a:ln w="19050">
            <a:solidFill>
              <a:srgbClr val="603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010705" y="6248400"/>
            <a:ext cx="95250" cy="95250"/>
          </a:xfrm>
          <a:prstGeom prst="ellipse">
            <a:avLst/>
          </a:prstGeom>
          <a:solidFill>
            <a:srgbClr val="6034FF"/>
          </a:solidFill>
          <a:ln w="19050">
            <a:solidFill>
              <a:srgbClr val="603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623707" y="6248400"/>
            <a:ext cx="95250" cy="95250"/>
          </a:xfrm>
          <a:prstGeom prst="ellipse">
            <a:avLst/>
          </a:prstGeom>
          <a:solidFill>
            <a:srgbClr val="6034FF"/>
          </a:solidFill>
          <a:ln w="19050">
            <a:solidFill>
              <a:srgbClr val="603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236709" y="6248400"/>
            <a:ext cx="95250" cy="95250"/>
          </a:xfrm>
          <a:prstGeom prst="ellipse">
            <a:avLst/>
          </a:prstGeom>
          <a:solidFill>
            <a:srgbClr val="6034FF"/>
          </a:solidFill>
          <a:ln w="19050">
            <a:solidFill>
              <a:srgbClr val="603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849711" y="6248400"/>
            <a:ext cx="95250" cy="95250"/>
          </a:xfrm>
          <a:prstGeom prst="ellipse">
            <a:avLst/>
          </a:prstGeom>
          <a:solidFill>
            <a:srgbClr val="6034FF"/>
          </a:solidFill>
          <a:ln w="19050">
            <a:solidFill>
              <a:srgbClr val="603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62712" y="6248400"/>
            <a:ext cx="95250" cy="95250"/>
          </a:xfrm>
          <a:prstGeom prst="ellipse">
            <a:avLst/>
          </a:prstGeom>
          <a:solidFill>
            <a:srgbClr val="6034FF"/>
          </a:solidFill>
          <a:ln w="19050">
            <a:solidFill>
              <a:srgbClr val="603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075714" y="6248400"/>
            <a:ext cx="95250" cy="95250"/>
          </a:xfrm>
          <a:prstGeom prst="ellipse">
            <a:avLst/>
          </a:prstGeom>
          <a:solidFill>
            <a:srgbClr val="6034FF"/>
          </a:solidFill>
          <a:ln w="19050">
            <a:solidFill>
              <a:srgbClr val="603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688716" y="6248400"/>
            <a:ext cx="95250" cy="95250"/>
          </a:xfrm>
          <a:prstGeom prst="ellipse">
            <a:avLst/>
          </a:prstGeom>
          <a:solidFill>
            <a:srgbClr val="6034FF"/>
          </a:solidFill>
          <a:ln w="19050">
            <a:solidFill>
              <a:srgbClr val="603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301718" y="6248400"/>
            <a:ext cx="95250" cy="95250"/>
          </a:xfrm>
          <a:prstGeom prst="ellipse">
            <a:avLst/>
          </a:prstGeom>
          <a:solidFill>
            <a:srgbClr val="6034FF"/>
          </a:solidFill>
          <a:ln w="19050">
            <a:solidFill>
              <a:srgbClr val="603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914720" y="6248400"/>
            <a:ext cx="95250" cy="95250"/>
          </a:xfrm>
          <a:prstGeom prst="ellipse">
            <a:avLst/>
          </a:prstGeom>
          <a:solidFill>
            <a:srgbClr val="6034FF"/>
          </a:solidFill>
          <a:ln w="19050">
            <a:solidFill>
              <a:srgbClr val="603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527721" y="6248400"/>
            <a:ext cx="95250" cy="95250"/>
          </a:xfrm>
          <a:prstGeom prst="ellipse">
            <a:avLst/>
          </a:prstGeom>
          <a:solidFill>
            <a:srgbClr val="6034FF"/>
          </a:solidFill>
          <a:ln w="19050">
            <a:solidFill>
              <a:srgbClr val="603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112148" y="6219825"/>
            <a:ext cx="152400" cy="152400"/>
          </a:xfrm>
          <a:prstGeom prst="ellipse">
            <a:avLst/>
          </a:prstGeom>
          <a:solidFill>
            <a:srgbClr val="6034FF"/>
          </a:solidFill>
          <a:ln w="19050">
            <a:solidFill>
              <a:srgbClr val="603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753725" y="6248400"/>
            <a:ext cx="95250" cy="95250"/>
          </a:xfrm>
          <a:prstGeom prst="ellipse">
            <a:avLst/>
          </a:prstGeom>
          <a:solidFill>
            <a:srgbClr val="F5F2EA"/>
          </a:solidFill>
          <a:ln w="190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877550" y="6229350"/>
            <a:ext cx="6667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spc="120">
                <a:solidFill>
                  <a:srgbClr val="7A7391"/>
                </a:solidFill>
                <a:latin typeface="Menlo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7700" y="1428750"/>
            <a:ext cx="6667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spc="-100">
                <a:solidFill>
                  <a:srgbClr val="F5F2EA"/>
                </a:solidFill>
                <a:latin typeface="Helvetica Neue"/>
              </a:rPr>
              <a:t>Pivot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7700" y="1866900"/>
            <a:ext cx="419100" cy="9525"/>
          </a:xfrm>
          <a:prstGeom prst="rect">
            <a:avLst/>
          </a:prstGeom>
          <a:solidFill>
            <a:srgbClr val="603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7700" y="2247900"/>
            <a:ext cx="8572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400" b="1" spc="-220">
                <a:solidFill>
                  <a:srgbClr val="F5F2EA"/>
                </a:solidFill>
                <a:latin typeface="Helvetica Neue"/>
              </a:rPr>
              <a:t>Résumés assert.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400" b="1" spc="-220">
                <a:solidFill>
                  <a:srgbClr val="FFB020"/>
                </a:solidFill>
                <a:latin typeface="Helvetica Neue"/>
              </a:rPr>
              <a:t>Pivot verifies.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7700" y="4000500"/>
            <a:ext cx="533400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500" b="0" spc="0">
                <a:solidFill>
                  <a:srgbClr val="F5F2EA"/>
                </a:solidFill>
                <a:latin typeface="Helvetica Neue"/>
              </a:rPr>
              <a:t>Every recommendation on the results page traces back to something the user actually demonstrated — which is the only reason any of it survives being questioned.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7700" y="5429250"/>
            <a:ext cx="10896600" cy="9525"/>
          </a:xfrm>
          <a:prstGeom prst="rect">
            <a:avLst/>
          </a:prstGeom>
          <a:solidFill>
            <a:srgbClr val="2E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7700" y="5619750"/>
            <a:ext cx="28575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spc="130">
                <a:solidFill>
                  <a:srgbClr val="9A92B4"/>
                </a:solidFill>
                <a:latin typeface="Menlo"/>
              </a:rPr>
              <a:t>RUN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700" y="5791200"/>
            <a:ext cx="3048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spc="0">
                <a:solidFill>
                  <a:srgbClr val="F5F2EA"/>
                </a:solidFill>
                <a:latin typeface="Menlo"/>
              </a:rPr>
              <a:t>npm install &amp;&amp; npm run dev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0950" y="5619750"/>
            <a:ext cx="28575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spc="130">
                <a:solidFill>
                  <a:srgbClr val="9A92B4"/>
                </a:solidFill>
                <a:latin typeface="Menlo"/>
              </a:rPr>
              <a:t>API KEY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0950" y="5791200"/>
            <a:ext cx="3048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spc="0">
                <a:solidFill>
                  <a:srgbClr val="F5F2EA"/>
                </a:solidFill>
                <a:latin typeface="Helvetica Neue"/>
              </a:rPr>
              <a:t>Optional — the flow always completes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34200" y="5619750"/>
            <a:ext cx="28575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spc="130">
                <a:solidFill>
                  <a:srgbClr val="9A92B4"/>
                </a:solidFill>
                <a:latin typeface="Menlo"/>
              </a:rPr>
              <a:t>SPEC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34200" y="5791200"/>
            <a:ext cx="3048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spc="0">
                <a:solidFill>
                  <a:srgbClr val="F5F2EA"/>
                </a:solidFill>
                <a:latin typeface="Helvetica Neue"/>
              </a:rPr>
              <a:t>Pivot PRD v0.2 · UI Implementation Spec v0.4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700" y="6229350"/>
            <a:ext cx="14287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spc="120">
                <a:solidFill>
                  <a:srgbClr val="9A92B4"/>
                </a:solidFill>
                <a:latin typeface="Menlo"/>
              </a:rPr>
              <a:t>CLOSE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19325" y="6286500"/>
            <a:ext cx="8582025" cy="19050"/>
          </a:xfrm>
          <a:prstGeom prst="rect">
            <a:avLst/>
          </a:prstGeom>
          <a:solidFill>
            <a:srgbClr val="2E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19325" y="6286500"/>
            <a:ext cx="8582025" cy="19050"/>
          </a:xfrm>
          <a:prstGeom prst="rect">
            <a:avLst/>
          </a:prstGeom>
          <a:solidFill>
            <a:srgbClr val="603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171700" y="6248400"/>
            <a:ext cx="95250" cy="95250"/>
          </a:xfrm>
          <a:prstGeom prst="ellipse">
            <a:avLst/>
          </a:prstGeom>
          <a:solidFill>
            <a:srgbClr val="6034FF"/>
          </a:solidFill>
          <a:ln w="19050">
            <a:solidFill>
              <a:srgbClr val="603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784702" y="6248400"/>
            <a:ext cx="95250" cy="95250"/>
          </a:xfrm>
          <a:prstGeom prst="ellipse">
            <a:avLst/>
          </a:prstGeom>
          <a:solidFill>
            <a:srgbClr val="6034FF"/>
          </a:solidFill>
          <a:ln w="19050">
            <a:solidFill>
              <a:srgbClr val="603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397704" y="6248400"/>
            <a:ext cx="95250" cy="95250"/>
          </a:xfrm>
          <a:prstGeom prst="ellipse">
            <a:avLst/>
          </a:prstGeom>
          <a:solidFill>
            <a:srgbClr val="6034FF"/>
          </a:solidFill>
          <a:ln w="19050">
            <a:solidFill>
              <a:srgbClr val="603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010705" y="6248400"/>
            <a:ext cx="95250" cy="95250"/>
          </a:xfrm>
          <a:prstGeom prst="ellipse">
            <a:avLst/>
          </a:prstGeom>
          <a:solidFill>
            <a:srgbClr val="6034FF"/>
          </a:solidFill>
          <a:ln w="19050">
            <a:solidFill>
              <a:srgbClr val="603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623707" y="6248400"/>
            <a:ext cx="95250" cy="95250"/>
          </a:xfrm>
          <a:prstGeom prst="ellipse">
            <a:avLst/>
          </a:prstGeom>
          <a:solidFill>
            <a:srgbClr val="6034FF"/>
          </a:solidFill>
          <a:ln w="19050">
            <a:solidFill>
              <a:srgbClr val="603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236709" y="6248400"/>
            <a:ext cx="95250" cy="95250"/>
          </a:xfrm>
          <a:prstGeom prst="ellipse">
            <a:avLst/>
          </a:prstGeom>
          <a:solidFill>
            <a:srgbClr val="6034FF"/>
          </a:solidFill>
          <a:ln w="19050">
            <a:solidFill>
              <a:srgbClr val="603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849711" y="6248400"/>
            <a:ext cx="95250" cy="95250"/>
          </a:xfrm>
          <a:prstGeom prst="ellipse">
            <a:avLst/>
          </a:prstGeom>
          <a:solidFill>
            <a:srgbClr val="6034FF"/>
          </a:solidFill>
          <a:ln w="19050">
            <a:solidFill>
              <a:srgbClr val="603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62712" y="6248400"/>
            <a:ext cx="95250" cy="95250"/>
          </a:xfrm>
          <a:prstGeom prst="ellipse">
            <a:avLst/>
          </a:prstGeom>
          <a:solidFill>
            <a:srgbClr val="6034FF"/>
          </a:solidFill>
          <a:ln w="19050">
            <a:solidFill>
              <a:srgbClr val="603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075714" y="6248400"/>
            <a:ext cx="95250" cy="95250"/>
          </a:xfrm>
          <a:prstGeom prst="ellipse">
            <a:avLst/>
          </a:prstGeom>
          <a:solidFill>
            <a:srgbClr val="6034FF"/>
          </a:solidFill>
          <a:ln w="19050">
            <a:solidFill>
              <a:srgbClr val="603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688716" y="6248400"/>
            <a:ext cx="95250" cy="95250"/>
          </a:xfrm>
          <a:prstGeom prst="ellipse">
            <a:avLst/>
          </a:prstGeom>
          <a:solidFill>
            <a:srgbClr val="6034FF"/>
          </a:solidFill>
          <a:ln w="19050">
            <a:solidFill>
              <a:srgbClr val="603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301718" y="6248400"/>
            <a:ext cx="95250" cy="95250"/>
          </a:xfrm>
          <a:prstGeom prst="ellipse">
            <a:avLst/>
          </a:prstGeom>
          <a:solidFill>
            <a:srgbClr val="6034FF"/>
          </a:solidFill>
          <a:ln w="19050">
            <a:solidFill>
              <a:srgbClr val="603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914720" y="6248400"/>
            <a:ext cx="95250" cy="95250"/>
          </a:xfrm>
          <a:prstGeom prst="ellipse">
            <a:avLst/>
          </a:prstGeom>
          <a:solidFill>
            <a:srgbClr val="6034FF"/>
          </a:solidFill>
          <a:ln w="19050">
            <a:solidFill>
              <a:srgbClr val="603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527721" y="6248400"/>
            <a:ext cx="95250" cy="95250"/>
          </a:xfrm>
          <a:prstGeom prst="ellipse">
            <a:avLst/>
          </a:prstGeom>
          <a:solidFill>
            <a:srgbClr val="6034FF"/>
          </a:solidFill>
          <a:ln w="19050">
            <a:solidFill>
              <a:srgbClr val="603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0723" y="6248400"/>
            <a:ext cx="95250" cy="95250"/>
          </a:xfrm>
          <a:prstGeom prst="ellipse">
            <a:avLst/>
          </a:prstGeom>
          <a:solidFill>
            <a:srgbClr val="6034FF"/>
          </a:solidFill>
          <a:ln w="19050">
            <a:solidFill>
              <a:srgbClr val="603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725150" y="6219825"/>
            <a:ext cx="152400" cy="152400"/>
          </a:xfrm>
          <a:prstGeom prst="ellipse">
            <a:avLst/>
          </a:prstGeom>
          <a:solidFill>
            <a:srgbClr val="6034FF"/>
          </a:solidFill>
          <a:ln w="19050">
            <a:solidFill>
              <a:srgbClr val="603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877550" y="6229350"/>
            <a:ext cx="6667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spc="120">
                <a:solidFill>
                  <a:srgbClr val="9A92B4"/>
                </a:solidFill>
                <a:latin typeface="Menlo"/>
              </a:rP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